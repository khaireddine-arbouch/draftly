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alibri (MS)" charset="1" panose="020F0502020204030204"/>
      <p:regular r:id="rId18"/>
    </p:embeddedFont>
    <p:embeddedFont>
      <p:font typeface="Calibri (MS) Italics" charset="1" panose="020F05020202040A0204"/>
      <p:regular r:id="rId19"/>
    </p:embeddedFont>
    <p:embeddedFont>
      <p:font typeface="Arial Bold" charset="1" panose="020B0704020202020204"/>
      <p:regular r:id="rId20"/>
    </p:embeddedFont>
    <p:embeddedFont>
      <p:font typeface="Merriweather Sans" charset="1" panose="00000000000000000000"/>
      <p:regular r:id="rId24"/>
    </p:embeddedFont>
    <p:embeddedFont>
      <p:font typeface="Merriweather Sans Bold" charset="1" panose="00000000000000000000"/>
      <p:regular r:id="rId25"/>
    </p:embeddedFont>
    <p:embeddedFont>
      <p:font typeface="Calibri (MS) Bold" charset="1" panose="020F070203040403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pn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 Id="rId4" Target="../media/image6.jpeg" Type="http://schemas.openxmlformats.org/officeDocument/2006/relationships/image"/><Relationship Id="rId5"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 Id="rId4"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531300" y="5719077"/>
            <a:ext cx="7521259" cy="2985351"/>
          </a:xfrm>
          <a:prstGeom prst="rect">
            <a:avLst/>
          </a:prstGeom>
        </p:spPr>
        <p:txBody>
          <a:bodyPr anchor="t" rtlCol="false" tIns="0" lIns="0" bIns="0" rIns="0">
            <a:spAutoFit/>
          </a:bodyPr>
          <a:lstStyle/>
          <a:p>
            <a:pPr algn="l">
              <a:lnSpc>
                <a:spcPts val="4320"/>
              </a:lnSpc>
            </a:pPr>
            <a:r>
              <a:rPr lang="en-US" sz="1800">
                <a:solidFill>
                  <a:srgbClr val="000000"/>
                </a:solidFill>
                <a:latin typeface="Calibri (MS)"/>
                <a:ea typeface="Calibri (MS)"/>
                <a:cs typeface="Calibri (MS)"/>
                <a:sym typeface="Calibri (MS)"/>
              </a:rPr>
              <a:t>Challenge Name: Huawei Developer Competition 2025 Northern Africa</a:t>
            </a:r>
          </a:p>
          <a:p>
            <a:pPr algn="l">
              <a:lnSpc>
                <a:spcPts val="4320"/>
              </a:lnSpc>
            </a:pPr>
            <a:r>
              <a:rPr lang="en-US" sz="1800">
                <a:solidFill>
                  <a:srgbClr val="000000"/>
                </a:solidFill>
                <a:latin typeface="Calibri (MS)"/>
                <a:ea typeface="Calibri (MS)"/>
                <a:cs typeface="Calibri (MS)"/>
                <a:sym typeface="Calibri (MS)"/>
              </a:rPr>
              <a:t>Project Name: Draftly - Huawei Cloud Native Design Copilot</a:t>
            </a:r>
          </a:p>
          <a:p>
            <a:pPr algn="l">
              <a:lnSpc>
                <a:spcPts val="4320"/>
              </a:lnSpc>
            </a:pPr>
            <a:r>
              <a:rPr lang="en-US" sz="1800">
                <a:solidFill>
                  <a:srgbClr val="000000"/>
                </a:solidFill>
                <a:latin typeface="Calibri (MS)"/>
                <a:ea typeface="Calibri (MS)"/>
                <a:cs typeface="Calibri (MS)"/>
                <a:sym typeface="Calibri (MS)"/>
              </a:rPr>
              <a:t>Team Name: Atlas Shield</a:t>
            </a:r>
          </a:p>
          <a:p>
            <a:pPr algn="l">
              <a:lnSpc>
                <a:spcPts val="4320"/>
              </a:lnSpc>
            </a:pPr>
            <a:r>
              <a:rPr lang="en-US" sz="1800">
                <a:solidFill>
                  <a:srgbClr val="000000"/>
                </a:solidFill>
                <a:latin typeface="Calibri (MS)"/>
                <a:ea typeface="Calibri (MS)"/>
                <a:cs typeface="Calibri (MS)"/>
                <a:sym typeface="Calibri (MS)"/>
              </a:rPr>
              <a:t>Organization: Students</a:t>
            </a:r>
          </a:p>
          <a:p>
            <a:pPr algn="l">
              <a:lnSpc>
                <a:spcPts val="4320"/>
              </a:lnSpc>
            </a:pPr>
            <a:r>
              <a:rPr lang="en-US" sz="1800">
                <a:solidFill>
                  <a:srgbClr val="000000"/>
                </a:solidFill>
                <a:latin typeface="Calibri (MS)"/>
                <a:ea typeface="Calibri (MS)"/>
                <a:cs typeface="Calibri (MS)"/>
                <a:sym typeface="Calibri (MS)"/>
              </a:rPr>
              <a:t>Email/Phone: Khaireddinearbouch8@gmail.com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455286" y="1"/>
            <a:ext cx="13832714" cy="10286998"/>
            <a:chOff x="0" y="0"/>
            <a:chExt cx="18443618" cy="13715998"/>
          </a:xfrm>
        </p:grpSpPr>
        <p:sp>
          <p:nvSpPr>
            <p:cNvPr name="Freeform 4" id="4"/>
            <p:cNvSpPr/>
            <p:nvPr/>
          </p:nvSpPr>
          <p:spPr>
            <a:xfrm flipH="false" flipV="false" rot="0">
              <a:off x="0" y="0"/>
              <a:ext cx="18443575" cy="13716000"/>
            </a:xfrm>
            <a:custGeom>
              <a:avLst/>
              <a:gdLst/>
              <a:ahLst/>
              <a:cxnLst/>
              <a:rect r="r" b="b" t="t" l="l"/>
              <a:pathLst>
                <a:path h="13716000" w="18443575">
                  <a:moveTo>
                    <a:pt x="0" y="0"/>
                  </a:moveTo>
                  <a:lnTo>
                    <a:pt x="18443575" y="0"/>
                  </a:lnTo>
                  <a:lnTo>
                    <a:pt x="18443575" y="13716000"/>
                  </a:lnTo>
                  <a:lnTo>
                    <a:pt x="0" y="13716000"/>
                  </a:lnTo>
                  <a:close/>
                </a:path>
              </a:pathLst>
            </a:custGeom>
            <a:solidFill>
              <a:srgbClr val="FFFFFF"/>
            </a:solidFill>
          </p:spPr>
        </p:sp>
      </p:grpSp>
      <p:graphicFrame>
        <p:nvGraphicFramePr>
          <p:cNvPr name="Table 5" id="5"/>
          <p:cNvGraphicFramePr>
            <a:graphicFrameLocks noGrp="true"/>
          </p:cNvGraphicFramePr>
          <p:nvPr/>
        </p:nvGraphicFramePr>
        <p:xfrm>
          <a:off x="5098418" y="1612451"/>
          <a:ext cx="12534900" cy="7573353"/>
        </p:xfrm>
        <a:graphic>
          <a:graphicData uri="http://schemas.openxmlformats.org/drawingml/2006/table">
            <a:tbl>
              <a:tblPr/>
              <a:tblGrid>
                <a:gridCol w="2876863"/>
                <a:gridCol w="9658037"/>
              </a:tblGrid>
              <a:tr h="427916">
                <a:tc>
                  <a:txBody>
                    <a:bodyPr anchor="t" rtlCol="false"/>
                    <a:lstStyle/>
                    <a:p>
                      <a:pPr algn="ctr">
                        <a:lnSpc>
                          <a:spcPts val="2160"/>
                        </a:lnSpc>
                        <a:defRPr/>
                      </a:pPr>
                      <a:r>
                        <a:rPr lang="en-US" sz="1800">
                          <a:solidFill>
                            <a:srgbClr val="575756"/>
                          </a:solidFill>
                          <a:latin typeface="Calibri (MS)"/>
                          <a:ea typeface="Calibri (MS)"/>
                          <a:cs typeface="Calibri (MS)"/>
                          <a:sym typeface="Calibri (MS)"/>
                        </a:rPr>
                        <a:t>Project Name</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c>
                  <a:txBody>
                    <a:bodyPr anchor="t" rtlCol="false"/>
                    <a:lstStyle/>
                    <a:p>
                      <a:pPr algn="ctr">
                        <a:lnSpc>
                          <a:spcPts val="1980"/>
                        </a:lnSpc>
                        <a:defRPr/>
                      </a:pPr>
                      <a:r>
                        <a:rPr lang="en-US" sz="1650">
                          <a:solidFill>
                            <a:srgbClr val="000000"/>
                          </a:solidFill>
                          <a:latin typeface="Calibri (MS)"/>
                          <a:ea typeface="Calibri (MS)"/>
                          <a:cs typeface="Calibri (MS)"/>
                          <a:sym typeface="Calibri (MS)"/>
                        </a:rPr>
                        <a:t>Draftly - Huawei Cloud Native Design Copilot</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r>
              <a:tr h="427916">
                <a:tc>
                  <a:txBody>
                    <a:bodyPr anchor="t" rtlCol="false"/>
                    <a:lstStyle/>
                    <a:p>
                      <a:pPr algn="ctr">
                        <a:lnSpc>
                          <a:spcPts val="2160"/>
                        </a:lnSpc>
                        <a:defRPr/>
                      </a:pPr>
                      <a:r>
                        <a:rPr lang="en-US" sz="1800">
                          <a:solidFill>
                            <a:srgbClr val="575756"/>
                          </a:solidFill>
                          <a:latin typeface="Calibri (MS)"/>
                          <a:ea typeface="Calibri (MS)"/>
                          <a:cs typeface="Calibri (MS)"/>
                          <a:sym typeface="Calibri (MS)"/>
                        </a:rPr>
                        <a:t>Team Name</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c>
                  <a:txBody>
                    <a:bodyPr anchor="t" rtlCol="false"/>
                    <a:lstStyle/>
                    <a:p>
                      <a:pPr algn="ctr">
                        <a:lnSpc>
                          <a:spcPts val="1980"/>
                        </a:lnSpc>
                        <a:defRPr/>
                      </a:pPr>
                      <a:r>
                        <a:rPr lang="en-US" sz="1650" i="true">
                          <a:solidFill>
                            <a:srgbClr val="808080"/>
                          </a:solidFill>
                          <a:latin typeface="Calibri (MS) Italics"/>
                          <a:ea typeface="Calibri (MS) Italics"/>
                          <a:cs typeface="Calibri (MS) Italics"/>
                          <a:sym typeface="Calibri (MS) Italics"/>
                        </a:rPr>
                        <a:t>Atlas Shield</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r>
              <a:tr h="427916">
                <a:tc>
                  <a:txBody>
                    <a:bodyPr anchor="t" rtlCol="false"/>
                    <a:lstStyle/>
                    <a:p>
                      <a:pPr algn="ctr">
                        <a:lnSpc>
                          <a:spcPts val="2160"/>
                        </a:lnSpc>
                        <a:defRPr/>
                      </a:pPr>
                      <a:r>
                        <a:rPr lang="en-US" sz="1800">
                          <a:solidFill>
                            <a:srgbClr val="575756"/>
                          </a:solidFill>
                          <a:latin typeface="Calibri (MS)"/>
                          <a:ea typeface="Calibri (MS)"/>
                          <a:cs typeface="Calibri (MS)"/>
                          <a:sym typeface="Calibri (MS)"/>
                        </a:rPr>
                        <a:t>Contacts</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c>
                  <a:txBody>
                    <a:bodyPr anchor="t" rtlCol="false"/>
                    <a:lstStyle/>
                    <a:p>
                      <a:pPr algn="ctr">
                        <a:lnSpc>
                          <a:spcPts val="1980"/>
                        </a:lnSpc>
                        <a:defRPr/>
                      </a:pPr>
                      <a:r>
                        <a:rPr lang="en-US" sz="1650" i="true">
                          <a:solidFill>
                            <a:srgbClr val="808080"/>
                          </a:solidFill>
                          <a:latin typeface="Calibri (MS) Italics"/>
                          <a:ea typeface="Calibri (MS) Italics"/>
                          <a:cs typeface="Calibri (MS) Italics"/>
                          <a:sym typeface="Calibri (MS) Italics"/>
                        </a:rPr>
                        <a:t>khaireddinearbouch8@gmail.com</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r>
              <a:tr h="427916">
                <a:tc>
                  <a:txBody>
                    <a:bodyPr anchor="t" rtlCol="false"/>
                    <a:lstStyle/>
                    <a:p>
                      <a:pPr algn="ctr">
                        <a:lnSpc>
                          <a:spcPts val="2160"/>
                        </a:lnSpc>
                        <a:defRPr/>
                      </a:pPr>
                      <a:r>
                        <a:rPr lang="en-US" sz="1800">
                          <a:solidFill>
                            <a:srgbClr val="575756"/>
                          </a:solidFill>
                          <a:latin typeface="Calibri (MS)"/>
                          <a:ea typeface="Calibri (MS)"/>
                          <a:cs typeface="Calibri (MS)"/>
                          <a:sym typeface="Calibri (MS)"/>
                        </a:rPr>
                        <a:t>Technical Field</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c>
                  <a:txBody>
                    <a:bodyPr anchor="t" rtlCol="false"/>
                    <a:lstStyle/>
                    <a:p>
                      <a:pPr algn="ctr">
                        <a:lnSpc>
                          <a:spcPts val="1980"/>
                        </a:lnSpc>
                        <a:defRPr/>
                      </a:pPr>
                      <a:r>
                        <a:rPr lang="en-US" sz="1650" i="true">
                          <a:solidFill>
                            <a:srgbClr val="808080"/>
                          </a:solidFill>
                          <a:latin typeface="Calibri (MS) Italics"/>
                          <a:ea typeface="Calibri (MS) Italics"/>
                          <a:cs typeface="Calibri (MS) Italics"/>
                          <a:sym typeface="Calibri (MS) Italics"/>
                        </a:rPr>
                        <a:t>Full Stack Development, AI-powered Design Tools</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r>
              <a:tr h="609984">
                <a:tc>
                  <a:txBody>
                    <a:bodyPr anchor="t" rtlCol="false"/>
                    <a:lstStyle/>
                    <a:p>
                      <a:pPr algn="ctr">
                        <a:lnSpc>
                          <a:spcPts val="2160"/>
                        </a:lnSpc>
                        <a:defRPr/>
                      </a:pPr>
                      <a:r>
                        <a:rPr lang="en-US" sz="1800">
                          <a:solidFill>
                            <a:srgbClr val="575756"/>
                          </a:solidFill>
                          <a:latin typeface="Calibri (MS)"/>
                          <a:ea typeface="Calibri (MS)"/>
                          <a:cs typeface="Calibri (MS)"/>
                          <a:sym typeface="Calibri (MS)"/>
                        </a:rPr>
                        <a:t>Technologies</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c>
                  <a:txBody>
                    <a:bodyPr anchor="t" rtlCol="false"/>
                    <a:lstStyle/>
                    <a:p>
                      <a:pPr algn="ctr">
                        <a:lnSpc>
                          <a:spcPts val="1980"/>
                        </a:lnSpc>
                        <a:defRPr/>
                      </a:pPr>
                      <a:r>
                        <a:rPr lang="en-US" sz="1650" i="true">
                          <a:solidFill>
                            <a:srgbClr val="808080"/>
                          </a:solidFill>
                          <a:latin typeface="Calibri (MS) Italics"/>
                          <a:ea typeface="Calibri (MS) Italics"/>
                          <a:cs typeface="Calibri (MS) Italics"/>
                          <a:sym typeface="Calibri (MS) Italics"/>
                        </a:rPr>
                        <a:t>Next.js, Tailwind CSS, Convex (Realtime DB), Inngest (Workflow), Docker, Claude API, Huawei Cloud (planned: OBS, FunctionGraph, ModelArts)</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r>
              <a:tr h="427916">
                <a:tc>
                  <a:txBody>
                    <a:bodyPr anchor="t" rtlCol="false"/>
                    <a:lstStyle/>
                    <a:p>
                      <a:pPr algn="ctr">
                        <a:lnSpc>
                          <a:spcPts val="2160"/>
                        </a:lnSpc>
                        <a:defRPr/>
                      </a:pPr>
                      <a:r>
                        <a:rPr lang="en-US" sz="1800">
                          <a:solidFill>
                            <a:srgbClr val="575756"/>
                          </a:solidFill>
                          <a:latin typeface="Calibri (MS)"/>
                          <a:ea typeface="Calibri (MS)"/>
                          <a:cs typeface="Calibri (MS)"/>
                          <a:sym typeface="Calibri (MS)"/>
                        </a:rPr>
                        <a:t>Keywords</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c>
                  <a:txBody>
                    <a:bodyPr anchor="t" rtlCol="false"/>
                    <a:lstStyle/>
                    <a:p>
                      <a:pPr algn="ctr">
                        <a:lnSpc>
                          <a:spcPts val="2310"/>
                        </a:lnSpc>
                        <a:defRPr/>
                      </a:pPr>
                      <a:r>
                        <a:rPr lang="en-US" sz="1650" i="true">
                          <a:solidFill>
                            <a:srgbClr val="575756"/>
                          </a:solidFill>
                          <a:latin typeface="Calibri (MS) Italics"/>
                          <a:ea typeface="Calibri (MS) Italics"/>
                          <a:cs typeface="Calibri (MS) Italics"/>
                          <a:sym typeface="Calibri (MS) Italics"/>
                        </a:rPr>
                        <a:t>Sketch-to-Design, AI Design Copilot, Cloud Native, UI Code Generation, Morocco Tech Ecosystem</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r>
              <a:tr h="427916">
                <a:tc>
                  <a:txBody>
                    <a:bodyPr anchor="t" rtlCol="false"/>
                    <a:lstStyle/>
                    <a:p>
                      <a:pPr algn="ctr">
                        <a:lnSpc>
                          <a:spcPts val="2160"/>
                        </a:lnSpc>
                        <a:defRPr/>
                      </a:pPr>
                      <a:r>
                        <a:rPr lang="en-US" sz="1800">
                          <a:solidFill>
                            <a:srgbClr val="575756"/>
                          </a:solidFill>
                          <a:latin typeface="Calibri (MS)"/>
                          <a:ea typeface="Calibri (MS)"/>
                          <a:cs typeface="Calibri (MS)"/>
                          <a:sym typeface="Calibri (MS)"/>
                        </a:rPr>
                        <a:t>Applicable Fields</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c>
                  <a:txBody>
                    <a:bodyPr anchor="t" rtlCol="false"/>
                    <a:lstStyle/>
                    <a:p>
                      <a:pPr algn="ctr">
                        <a:lnSpc>
                          <a:spcPts val="2310"/>
                        </a:lnSpc>
                        <a:defRPr/>
                      </a:pPr>
                      <a:r>
                        <a:rPr lang="en-US" sz="1650" i="true">
                          <a:solidFill>
                            <a:srgbClr val="575756"/>
                          </a:solidFill>
                          <a:latin typeface="Calibri (MS) Italics"/>
                          <a:ea typeface="Calibri (MS) Italics"/>
                          <a:cs typeface="Calibri (MS) Italics"/>
                          <a:sym typeface="Calibri (MS) Italics"/>
                        </a:rPr>
                        <a:t>Creative Industries, SaaS, Design Automation, Cloud Transformation</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r>
              <a:tr h="4395873">
                <a:tc>
                  <a:txBody>
                    <a:bodyPr anchor="t" rtlCol="false"/>
                    <a:lstStyle/>
                    <a:p>
                      <a:pPr algn="ctr">
                        <a:lnSpc>
                          <a:spcPts val="2160"/>
                        </a:lnSpc>
                        <a:defRPr/>
                      </a:pPr>
                      <a:r>
                        <a:rPr lang="en-US" sz="1800">
                          <a:solidFill>
                            <a:srgbClr val="575756"/>
                          </a:solidFill>
                          <a:latin typeface="Calibri (MS)"/>
                          <a:ea typeface="Calibri (MS)"/>
                          <a:cs typeface="Calibri (MS)"/>
                          <a:sym typeface="Calibri (MS)"/>
                        </a:rPr>
                        <a:t>Description (in 200 words)</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c>
                  <a:txBody>
                    <a:bodyPr anchor="t" rtlCol="false"/>
                    <a:lstStyle/>
                    <a:p>
                      <a:pPr algn="ctr">
                        <a:lnSpc>
                          <a:spcPts val="1980"/>
                        </a:lnSpc>
                        <a:defRPr/>
                      </a:pPr>
                      <a:r>
                        <a:rPr lang="en-US" sz="1650" i="true">
                          <a:solidFill>
                            <a:srgbClr val="808080"/>
                          </a:solidFill>
                          <a:latin typeface="Calibri (MS) Italics"/>
                          <a:ea typeface="Calibri (MS) Italics"/>
                          <a:cs typeface="Calibri (MS) Italics"/>
                          <a:sym typeface="Calibri (MS) Italics"/>
                        </a:rPr>
                        <a:t>Draftly is a SaaS platform that enables designers and developers to transform hand-drawn sketches or wireframes into production-ready UI code instantly. By uploading a sketch or inspiration image, the system applies an AI pipeline — first extracting layout and component structure, then synthesizing React + Tailwind code — saving hours of manual frontend work. Built with open-source backbone (Convex + Inngest), containerised for portability and primed for Huawei Cloud integration, Draftly addresses the productivity bottleneck in emerging African tech markets. Its modular architecture enables future deployment on Huawei Cloud services such as OBS for asset storage, FunctionGraph for event orchestration and ModelArts for multimodal inference. Through Draftly, Moroccan startups, freelancers and education institutions can accelerate UI development, reduce reliance on outsourced design, and foster local innovation.</a:t>
                      </a:r>
                      <a:endParaRPr lang="en-US" sz="1100"/>
                    </a:p>
                  </a:txBody>
                  <a:tcPr marL="9525" marR="9525" marT="9525" marB="95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EFF7"/>
                    </a:solidFill>
                  </a:tcPr>
                </a:tc>
              </a:tr>
            </a:tbl>
          </a:graphicData>
        </a:graphic>
      </p:graphicFrame>
      <p:sp>
        <p:nvSpPr>
          <p:cNvPr name="TextBox 6" id="6"/>
          <p:cNvSpPr txBox="true"/>
          <p:nvPr/>
        </p:nvSpPr>
        <p:spPr>
          <a:xfrm rot="0">
            <a:off x="1301764" y="1572948"/>
            <a:ext cx="2885179" cy="960946"/>
          </a:xfrm>
          <a:prstGeom prst="rect">
            <a:avLst/>
          </a:prstGeom>
        </p:spPr>
        <p:txBody>
          <a:bodyPr anchor="t" rtlCol="false" tIns="0" lIns="0" bIns="0" rIns="0">
            <a:spAutoFit/>
          </a:bodyPr>
          <a:lstStyle/>
          <a:p>
            <a:pPr algn="ctr">
              <a:lnSpc>
                <a:spcPts val="5159"/>
              </a:lnSpc>
            </a:pPr>
            <a:r>
              <a:rPr lang="en-US" sz="4198" b="true">
                <a:solidFill>
                  <a:srgbClr val="990000"/>
                </a:solidFill>
                <a:latin typeface="Arial Bold"/>
                <a:ea typeface="Arial Bold"/>
                <a:cs typeface="Arial Bold"/>
                <a:sym typeface="Arial Bold"/>
              </a:rPr>
              <a:t>Overview</a:t>
            </a:r>
          </a:p>
        </p:txBody>
      </p:sp>
      <p:grpSp>
        <p:nvGrpSpPr>
          <p:cNvPr name="Group 7" id="7"/>
          <p:cNvGrpSpPr>
            <a:grpSpLocks noChangeAspect="true"/>
          </p:cNvGrpSpPr>
          <p:nvPr/>
        </p:nvGrpSpPr>
        <p:grpSpPr>
          <a:xfrm rot="0">
            <a:off x="169036" y="4541792"/>
            <a:ext cx="4286250" cy="4286250"/>
            <a:chOff x="0" y="0"/>
            <a:chExt cx="5715000" cy="5715000"/>
          </a:xfrm>
        </p:grpSpPr>
        <p:sp>
          <p:nvSpPr>
            <p:cNvPr name="Freeform 8" id="8"/>
            <p:cNvSpPr/>
            <p:nvPr/>
          </p:nvSpPr>
          <p:spPr>
            <a:xfrm flipH="false" flipV="false" rot="0">
              <a:off x="0" y="0"/>
              <a:ext cx="5715000" cy="5715000"/>
            </a:xfrm>
            <a:custGeom>
              <a:avLst/>
              <a:gdLst/>
              <a:ahLst/>
              <a:cxnLst/>
              <a:rect r="r" b="b" t="t" l="l"/>
              <a:pathLst>
                <a:path h="5715000" w="5715000">
                  <a:moveTo>
                    <a:pt x="0" y="0"/>
                  </a:moveTo>
                  <a:lnTo>
                    <a:pt x="5715000" y="0"/>
                  </a:lnTo>
                  <a:lnTo>
                    <a:pt x="5715000" y="5715000"/>
                  </a:lnTo>
                  <a:lnTo>
                    <a:pt x="0" y="5715000"/>
                  </a:lnTo>
                  <a:lnTo>
                    <a:pt x="0" y="0"/>
                  </a:lnTo>
                  <a:close/>
                </a:path>
              </a:pathLst>
            </a:custGeom>
            <a:blipFill>
              <a:blip r:embed="rId3"/>
              <a:stretch>
                <a:fillRect l="0" t="0" r="0" b="0"/>
              </a:stretch>
            </a:blipFill>
          </p:spPr>
        </p:sp>
      </p:grpSp>
      <p:sp>
        <p:nvSpPr>
          <p:cNvPr name="TextBox 9" id="9"/>
          <p:cNvSpPr txBox="true"/>
          <p:nvPr/>
        </p:nvSpPr>
        <p:spPr>
          <a:xfrm rot="0">
            <a:off x="5010032" y="554331"/>
            <a:ext cx="3325773" cy="667733"/>
          </a:xfrm>
          <a:prstGeom prst="rect">
            <a:avLst/>
          </a:prstGeom>
        </p:spPr>
        <p:txBody>
          <a:bodyPr anchor="t" rtlCol="false" tIns="0" lIns="0" bIns="0" rIns="0">
            <a:spAutoFit/>
          </a:bodyPr>
          <a:lstStyle/>
          <a:p>
            <a:pPr algn="l">
              <a:lnSpc>
                <a:spcPts val="4320"/>
              </a:lnSpc>
            </a:pPr>
            <a:r>
              <a:rPr lang="en-US" sz="3600">
                <a:solidFill>
                  <a:srgbClr val="575756"/>
                </a:solidFill>
                <a:latin typeface="Calibri (MS)"/>
                <a:ea typeface="Calibri (MS)"/>
                <a:cs typeface="Calibri (MS)"/>
                <a:sym typeface="Calibri (MS)"/>
              </a:rPr>
              <a:t>Project Overview</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4455286" y="1"/>
            <a:ext cx="13832714" cy="10286998"/>
            <a:chOff x="0" y="0"/>
            <a:chExt cx="18443618" cy="13715998"/>
          </a:xfrm>
        </p:grpSpPr>
        <p:sp>
          <p:nvSpPr>
            <p:cNvPr name="Freeform 4" id="4"/>
            <p:cNvSpPr/>
            <p:nvPr/>
          </p:nvSpPr>
          <p:spPr>
            <a:xfrm flipH="false" flipV="false" rot="0">
              <a:off x="0" y="0"/>
              <a:ext cx="18443575" cy="13716000"/>
            </a:xfrm>
            <a:custGeom>
              <a:avLst/>
              <a:gdLst/>
              <a:ahLst/>
              <a:cxnLst/>
              <a:rect r="r" b="b" t="t" l="l"/>
              <a:pathLst>
                <a:path h="13716000" w="18443575">
                  <a:moveTo>
                    <a:pt x="0" y="0"/>
                  </a:moveTo>
                  <a:lnTo>
                    <a:pt x="18443575" y="0"/>
                  </a:lnTo>
                  <a:lnTo>
                    <a:pt x="18443575" y="13716000"/>
                  </a:lnTo>
                  <a:lnTo>
                    <a:pt x="0" y="13716000"/>
                  </a:lnTo>
                  <a:close/>
                </a:path>
              </a:pathLst>
            </a:custGeom>
            <a:solidFill>
              <a:srgbClr val="FFFFFF"/>
            </a:solidFill>
          </p:spPr>
        </p:sp>
      </p:grpSp>
      <p:sp>
        <p:nvSpPr>
          <p:cNvPr name="TextBox 5" id="5"/>
          <p:cNvSpPr txBox="true"/>
          <p:nvPr/>
        </p:nvSpPr>
        <p:spPr>
          <a:xfrm rot="0">
            <a:off x="6146001" y="1543424"/>
            <a:ext cx="2964520" cy="575400"/>
          </a:xfrm>
          <a:prstGeom prst="rect">
            <a:avLst/>
          </a:prstGeom>
        </p:spPr>
        <p:txBody>
          <a:bodyPr anchor="t" rtlCol="false" tIns="0" lIns="0" bIns="0" rIns="0">
            <a:spAutoFit/>
          </a:bodyPr>
          <a:lstStyle/>
          <a:p>
            <a:pPr algn="l">
              <a:lnSpc>
                <a:spcPts val="3600"/>
              </a:lnSpc>
            </a:pPr>
            <a:r>
              <a:rPr lang="en-US" sz="3000">
                <a:solidFill>
                  <a:srgbClr val="575756"/>
                </a:solidFill>
                <a:latin typeface="Calibri (MS)"/>
                <a:ea typeface="Calibri (MS)"/>
                <a:cs typeface="Calibri (MS)"/>
                <a:sym typeface="Calibri (MS)"/>
              </a:rPr>
              <a:t>Team Introduction</a:t>
            </a:r>
          </a:p>
        </p:txBody>
      </p:sp>
      <p:sp>
        <p:nvSpPr>
          <p:cNvPr name="AutoShape 6" id="6"/>
          <p:cNvSpPr/>
          <p:nvPr/>
        </p:nvSpPr>
        <p:spPr>
          <a:xfrm rot="3284">
            <a:off x="5304362" y="2339805"/>
            <a:ext cx="9968538" cy="0"/>
          </a:xfrm>
          <a:prstGeom prst="line">
            <a:avLst/>
          </a:prstGeom>
          <a:ln cap="rnd" w="9525">
            <a:solidFill>
              <a:srgbClr val="DEDEDE"/>
            </a:solidFill>
            <a:prstDash val="solid"/>
            <a:headEnd type="none" len="sm" w="sm"/>
            <a:tailEnd type="none" len="sm" w="sm"/>
          </a:ln>
        </p:spPr>
      </p:sp>
      <p:grpSp>
        <p:nvGrpSpPr>
          <p:cNvPr name="Group 7" id="7"/>
          <p:cNvGrpSpPr/>
          <p:nvPr/>
        </p:nvGrpSpPr>
        <p:grpSpPr>
          <a:xfrm rot="0">
            <a:off x="4901624" y="1535619"/>
            <a:ext cx="815008" cy="815008"/>
            <a:chOff x="0" y="0"/>
            <a:chExt cx="1086678" cy="1086678"/>
          </a:xfrm>
        </p:grpSpPr>
        <p:sp>
          <p:nvSpPr>
            <p:cNvPr name="Freeform 8" id="8"/>
            <p:cNvSpPr/>
            <p:nvPr/>
          </p:nvSpPr>
          <p:spPr>
            <a:xfrm flipH="false" flipV="false" rot="0">
              <a:off x="0" y="0"/>
              <a:ext cx="1086612" cy="1086612"/>
            </a:xfrm>
            <a:custGeom>
              <a:avLst/>
              <a:gdLst/>
              <a:ahLst/>
              <a:cxnLst/>
              <a:rect r="r" b="b" t="t" l="l"/>
              <a:pathLst>
                <a:path h="1086612" w="1086612">
                  <a:moveTo>
                    <a:pt x="181102" y="0"/>
                  </a:moveTo>
                  <a:lnTo>
                    <a:pt x="1086612" y="0"/>
                  </a:lnTo>
                  <a:lnTo>
                    <a:pt x="1086612" y="905510"/>
                  </a:lnTo>
                  <a:cubicBezTo>
                    <a:pt x="1086612" y="1005586"/>
                    <a:pt x="1005586" y="1086612"/>
                    <a:pt x="905510" y="1086612"/>
                  </a:cubicBezTo>
                  <a:lnTo>
                    <a:pt x="0" y="1086612"/>
                  </a:lnTo>
                  <a:lnTo>
                    <a:pt x="0" y="181102"/>
                  </a:lnTo>
                  <a:cubicBezTo>
                    <a:pt x="0" y="81026"/>
                    <a:pt x="81026" y="0"/>
                    <a:pt x="181102" y="0"/>
                  </a:cubicBezTo>
                  <a:close/>
                </a:path>
              </a:pathLst>
            </a:custGeom>
            <a:solidFill>
              <a:srgbClr val="DEDEDE"/>
            </a:solidFill>
          </p:spPr>
        </p:sp>
        <p:sp>
          <p:nvSpPr>
            <p:cNvPr name="TextBox 9" id="9"/>
            <p:cNvSpPr txBox="true"/>
            <p:nvPr/>
          </p:nvSpPr>
          <p:spPr>
            <a:xfrm>
              <a:off x="0" y="-19050"/>
              <a:ext cx="1086678" cy="1105728"/>
            </a:xfrm>
            <a:prstGeom prst="rect">
              <a:avLst/>
            </a:prstGeom>
          </p:spPr>
          <p:txBody>
            <a:bodyPr anchor="ctr" rtlCol="false" tIns="50800" lIns="50800" bIns="50800" rIns="50800"/>
            <a:lstStyle/>
            <a:p>
              <a:pPr algn="ctr">
                <a:lnSpc>
                  <a:spcPts val="3600"/>
                </a:lnSpc>
              </a:pPr>
              <a:r>
                <a:rPr lang="en-US" sz="3000" b="true">
                  <a:solidFill>
                    <a:srgbClr val="FFFFFF"/>
                  </a:solidFill>
                  <a:latin typeface="Arial Bold"/>
                  <a:ea typeface="Arial Bold"/>
                  <a:cs typeface="Arial Bold"/>
                  <a:sym typeface="Arial Bold"/>
                </a:rPr>
                <a:t>1</a:t>
              </a:r>
            </a:p>
          </p:txBody>
        </p:sp>
      </p:grpSp>
      <p:sp>
        <p:nvSpPr>
          <p:cNvPr name="TextBox 10" id="10"/>
          <p:cNvSpPr txBox="true"/>
          <p:nvPr/>
        </p:nvSpPr>
        <p:spPr>
          <a:xfrm rot="0">
            <a:off x="1060724" y="1509644"/>
            <a:ext cx="2518216" cy="681059"/>
          </a:xfrm>
          <a:prstGeom prst="rect">
            <a:avLst/>
          </a:prstGeom>
        </p:spPr>
        <p:txBody>
          <a:bodyPr anchor="t" rtlCol="false" tIns="0" lIns="0" bIns="0" rIns="0">
            <a:spAutoFit/>
          </a:bodyPr>
          <a:lstStyle/>
          <a:p>
            <a:pPr algn="ctr">
              <a:lnSpc>
                <a:spcPts val="5159"/>
              </a:lnSpc>
            </a:pPr>
            <a:r>
              <a:rPr lang="en-US" sz="4198" b="true">
                <a:solidFill>
                  <a:srgbClr val="990000"/>
                </a:solidFill>
                <a:latin typeface="Arial Bold"/>
                <a:ea typeface="Arial Bold"/>
                <a:cs typeface="Arial Bold"/>
                <a:sym typeface="Arial Bold"/>
              </a:rPr>
              <a:t>Contents</a:t>
            </a:r>
          </a:p>
        </p:txBody>
      </p:sp>
      <p:sp>
        <p:nvSpPr>
          <p:cNvPr name="AutoShape 11" id="11"/>
          <p:cNvSpPr/>
          <p:nvPr/>
        </p:nvSpPr>
        <p:spPr>
          <a:xfrm rot="3284">
            <a:off x="5304362" y="3353523"/>
            <a:ext cx="9968538" cy="0"/>
          </a:xfrm>
          <a:prstGeom prst="line">
            <a:avLst/>
          </a:prstGeom>
          <a:ln cap="rnd" w="9525">
            <a:solidFill>
              <a:srgbClr val="DEDEDE"/>
            </a:solidFill>
            <a:prstDash val="solid"/>
            <a:headEnd type="none" len="sm" w="sm"/>
            <a:tailEnd type="none" len="sm" w="sm"/>
          </a:ln>
        </p:spPr>
      </p:sp>
      <p:grpSp>
        <p:nvGrpSpPr>
          <p:cNvPr name="Group 12" id="12"/>
          <p:cNvGrpSpPr/>
          <p:nvPr/>
        </p:nvGrpSpPr>
        <p:grpSpPr>
          <a:xfrm rot="0">
            <a:off x="4901624" y="2549337"/>
            <a:ext cx="815008" cy="815008"/>
            <a:chOff x="0" y="0"/>
            <a:chExt cx="1086678" cy="1086678"/>
          </a:xfrm>
        </p:grpSpPr>
        <p:sp>
          <p:nvSpPr>
            <p:cNvPr name="Freeform 13" id="13"/>
            <p:cNvSpPr/>
            <p:nvPr/>
          </p:nvSpPr>
          <p:spPr>
            <a:xfrm flipH="false" flipV="false" rot="0">
              <a:off x="0" y="0"/>
              <a:ext cx="1086612" cy="1086612"/>
            </a:xfrm>
            <a:custGeom>
              <a:avLst/>
              <a:gdLst/>
              <a:ahLst/>
              <a:cxnLst/>
              <a:rect r="r" b="b" t="t" l="l"/>
              <a:pathLst>
                <a:path h="1086612" w="1086612">
                  <a:moveTo>
                    <a:pt x="181102" y="0"/>
                  </a:moveTo>
                  <a:lnTo>
                    <a:pt x="1086612" y="0"/>
                  </a:lnTo>
                  <a:lnTo>
                    <a:pt x="1086612" y="905510"/>
                  </a:lnTo>
                  <a:cubicBezTo>
                    <a:pt x="1086612" y="1005586"/>
                    <a:pt x="1005586" y="1086612"/>
                    <a:pt x="905510" y="1086612"/>
                  </a:cubicBezTo>
                  <a:lnTo>
                    <a:pt x="0" y="1086612"/>
                  </a:lnTo>
                  <a:lnTo>
                    <a:pt x="0" y="181102"/>
                  </a:lnTo>
                  <a:cubicBezTo>
                    <a:pt x="0" y="81026"/>
                    <a:pt x="81026" y="0"/>
                    <a:pt x="181102" y="0"/>
                  </a:cubicBezTo>
                  <a:close/>
                </a:path>
              </a:pathLst>
            </a:custGeom>
            <a:solidFill>
              <a:srgbClr val="DEDEDE"/>
            </a:solidFill>
          </p:spPr>
        </p:sp>
        <p:sp>
          <p:nvSpPr>
            <p:cNvPr name="TextBox 14" id="14"/>
            <p:cNvSpPr txBox="true"/>
            <p:nvPr/>
          </p:nvSpPr>
          <p:spPr>
            <a:xfrm>
              <a:off x="0" y="-19050"/>
              <a:ext cx="1086678" cy="1105728"/>
            </a:xfrm>
            <a:prstGeom prst="rect">
              <a:avLst/>
            </a:prstGeom>
          </p:spPr>
          <p:txBody>
            <a:bodyPr anchor="ctr" rtlCol="false" tIns="50800" lIns="50800" bIns="50800" rIns="50800"/>
            <a:lstStyle/>
            <a:p>
              <a:pPr algn="ctr">
                <a:lnSpc>
                  <a:spcPts val="3600"/>
                </a:lnSpc>
              </a:pPr>
              <a:r>
                <a:rPr lang="en-US" sz="3000" b="true">
                  <a:solidFill>
                    <a:srgbClr val="FFFFFF"/>
                  </a:solidFill>
                  <a:latin typeface="Arial Bold"/>
                  <a:ea typeface="Arial Bold"/>
                  <a:cs typeface="Arial Bold"/>
                  <a:sym typeface="Arial Bold"/>
                </a:rPr>
                <a:t>2</a:t>
              </a:r>
            </a:p>
          </p:txBody>
        </p:sp>
      </p:grpSp>
      <p:sp>
        <p:nvSpPr>
          <p:cNvPr name="TextBox 15" id="15"/>
          <p:cNvSpPr txBox="true"/>
          <p:nvPr/>
        </p:nvSpPr>
        <p:spPr>
          <a:xfrm rot="0">
            <a:off x="6146000" y="2585546"/>
            <a:ext cx="3232959" cy="575400"/>
          </a:xfrm>
          <a:prstGeom prst="rect">
            <a:avLst/>
          </a:prstGeom>
        </p:spPr>
        <p:txBody>
          <a:bodyPr anchor="t" rtlCol="false" tIns="0" lIns="0" bIns="0" rIns="0">
            <a:spAutoFit/>
          </a:bodyPr>
          <a:lstStyle/>
          <a:p>
            <a:pPr algn="l">
              <a:lnSpc>
                <a:spcPts val="3600"/>
              </a:lnSpc>
            </a:pPr>
            <a:r>
              <a:rPr lang="en-US" sz="3000">
                <a:solidFill>
                  <a:srgbClr val="575756"/>
                </a:solidFill>
                <a:latin typeface="Calibri (MS)"/>
                <a:ea typeface="Calibri (MS)"/>
                <a:cs typeface="Calibri (MS)"/>
                <a:sym typeface="Calibri (MS)"/>
              </a:rPr>
              <a:t>Project Introduction</a:t>
            </a:r>
          </a:p>
        </p:txBody>
      </p:sp>
      <p:sp>
        <p:nvSpPr>
          <p:cNvPr name="AutoShape 16" id="16"/>
          <p:cNvSpPr/>
          <p:nvPr/>
        </p:nvSpPr>
        <p:spPr>
          <a:xfrm rot="3284">
            <a:off x="5304362" y="4367241"/>
            <a:ext cx="9968538" cy="0"/>
          </a:xfrm>
          <a:prstGeom prst="line">
            <a:avLst/>
          </a:prstGeom>
          <a:ln cap="rnd" w="9525">
            <a:solidFill>
              <a:srgbClr val="DEDEDE"/>
            </a:solidFill>
            <a:prstDash val="solid"/>
            <a:headEnd type="none" len="sm" w="sm"/>
            <a:tailEnd type="none" len="sm" w="sm"/>
          </a:ln>
        </p:spPr>
      </p:sp>
      <p:grpSp>
        <p:nvGrpSpPr>
          <p:cNvPr name="Group 17" id="17"/>
          <p:cNvGrpSpPr/>
          <p:nvPr/>
        </p:nvGrpSpPr>
        <p:grpSpPr>
          <a:xfrm rot="0">
            <a:off x="4901624" y="3563055"/>
            <a:ext cx="815008" cy="815008"/>
            <a:chOff x="0" y="0"/>
            <a:chExt cx="1086678" cy="1086678"/>
          </a:xfrm>
        </p:grpSpPr>
        <p:sp>
          <p:nvSpPr>
            <p:cNvPr name="Freeform 18" id="18"/>
            <p:cNvSpPr/>
            <p:nvPr/>
          </p:nvSpPr>
          <p:spPr>
            <a:xfrm flipH="false" flipV="false" rot="0">
              <a:off x="0" y="0"/>
              <a:ext cx="1086612" cy="1086612"/>
            </a:xfrm>
            <a:custGeom>
              <a:avLst/>
              <a:gdLst/>
              <a:ahLst/>
              <a:cxnLst/>
              <a:rect r="r" b="b" t="t" l="l"/>
              <a:pathLst>
                <a:path h="1086612" w="1086612">
                  <a:moveTo>
                    <a:pt x="181102" y="0"/>
                  </a:moveTo>
                  <a:lnTo>
                    <a:pt x="1086612" y="0"/>
                  </a:lnTo>
                  <a:lnTo>
                    <a:pt x="1086612" y="905510"/>
                  </a:lnTo>
                  <a:cubicBezTo>
                    <a:pt x="1086612" y="1005586"/>
                    <a:pt x="1005586" y="1086612"/>
                    <a:pt x="905510" y="1086612"/>
                  </a:cubicBezTo>
                  <a:lnTo>
                    <a:pt x="0" y="1086612"/>
                  </a:lnTo>
                  <a:lnTo>
                    <a:pt x="0" y="181102"/>
                  </a:lnTo>
                  <a:cubicBezTo>
                    <a:pt x="0" y="81026"/>
                    <a:pt x="81026" y="0"/>
                    <a:pt x="181102" y="0"/>
                  </a:cubicBezTo>
                  <a:close/>
                </a:path>
              </a:pathLst>
            </a:custGeom>
            <a:solidFill>
              <a:srgbClr val="DEDEDE"/>
            </a:solidFill>
          </p:spPr>
        </p:sp>
        <p:sp>
          <p:nvSpPr>
            <p:cNvPr name="TextBox 19" id="19"/>
            <p:cNvSpPr txBox="true"/>
            <p:nvPr/>
          </p:nvSpPr>
          <p:spPr>
            <a:xfrm>
              <a:off x="0" y="-19050"/>
              <a:ext cx="1086678" cy="1105728"/>
            </a:xfrm>
            <a:prstGeom prst="rect">
              <a:avLst/>
            </a:prstGeom>
          </p:spPr>
          <p:txBody>
            <a:bodyPr anchor="ctr" rtlCol="false" tIns="50800" lIns="50800" bIns="50800" rIns="50800"/>
            <a:lstStyle/>
            <a:p>
              <a:pPr algn="ctr">
                <a:lnSpc>
                  <a:spcPts val="3600"/>
                </a:lnSpc>
              </a:pPr>
              <a:r>
                <a:rPr lang="en-US" sz="3000" b="true">
                  <a:solidFill>
                    <a:srgbClr val="FFFFFF"/>
                  </a:solidFill>
                  <a:latin typeface="Arial Bold"/>
                  <a:ea typeface="Arial Bold"/>
                  <a:cs typeface="Arial Bold"/>
                  <a:sym typeface="Arial Bold"/>
                </a:rPr>
                <a:t>3</a:t>
              </a:r>
            </a:p>
          </p:txBody>
        </p:sp>
      </p:grpSp>
      <p:sp>
        <p:nvSpPr>
          <p:cNvPr name="TextBox 20" id="20"/>
          <p:cNvSpPr txBox="true"/>
          <p:nvPr/>
        </p:nvSpPr>
        <p:spPr>
          <a:xfrm rot="0">
            <a:off x="6146001" y="3597945"/>
            <a:ext cx="3559683" cy="575400"/>
          </a:xfrm>
          <a:prstGeom prst="rect">
            <a:avLst/>
          </a:prstGeom>
        </p:spPr>
        <p:txBody>
          <a:bodyPr anchor="t" rtlCol="false" tIns="0" lIns="0" bIns="0" rIns="0">
            <a:spAutoFit/>
          </a:bodyPr>
          <a:lstStyle/>
          <a:p>
            <a:pPr algn="l">
              <a:lnSpc>
                <a:spcPts val="3600"/>
              </a:lnSpc>
            </a:pPr>
            <a:r>
              <a:rPr lang="en-US" sz="3000">
                <a:solidFill>
                  <a:srgbClr val="575756"/>
                </a:solidFill>
                <a:latin typeface="Calibri (MS)"/>
                <a:ea typeface="Calibri (MS)"/>
                <a:cs typeface="Calibri (MS)"/>
                <a:sym typeface="Calibri (MS)"/>
              </a:rPr>
              <a:t>Technical Architecture</a:t>
            </a:r>
          </a:p>
        </p:txBody>
      </p:sp>
      <p:sp>
        <p:nvSpPr>
          <p:cNvPr name="AutoShape 21" id="21"/>
          <p:cNvSpPr/>
          <p:nvPr/>
        </p:nvSpPr>
        <p:spPr>
          <a:xfrm rot="3284">
            <a:off x="5304362" y="5380959"/>
            <a:ext cx="9968538" cy="0"/>
          </a:xfrm>
          <a:prstGeom prst="line">
            <a:avLst/>
          </a:prstGeom>
          <a:ln cap="rnd" w="9525">
            <a:solidFill>
              <a:srgbClr val="DEDEDE"/>
            </a:solidFill>
            <a:prstDash val="solid"/>
            <a:headEnd type="none" len="sm" w="sm"/>
            <a:tailEnd type="none" len="sm" w="sm"/>
          </a:ln>
        </p:spPr>
      </p:sp>
      <p:grpSp>
        <p:nvGrpSpPr>
          <p:cNvPr name="Group 22" id="22"/>
          <p:cNvGrpSpPr/>
          <p:nvPr/>
        </p:nvGrpSpPr>
        <p:grpSpPr>
          <a:xfrm rot="0">
            <a:off x="4901624" y="4576773"/>
            <a:ext cx="815008" cy="815008"/>
            <a:chOff x="0" y="0"/>
            <a:chExt cx="1086678" cy="1086678"/>
          </a:xfrm>
        </p:grpSpPr>
        <p:sp>
          <p:nvSpPr>
            <p:cNvPr name="Freeform 23" id="23"/>
            <p:cNvSpPr/>
            <p:nvPr/>
          </p:nvSpPr>
          <p:spPr>
            <a:xfrm flipH="false" flipV="false" rot="0">
              <a:off x="0" y="0"/>
              <a:ext cx="1086612" cy="1086612"/>
            </a:xfrm>
            <a:custGeom>
              <a:avLst/>
              <a:gdLst/>
              <a:ahLst/>
              <a:cxnLst/>
              <a:rect r="r" b="b" t="t" l="l"/>
              <a:pathLst>
                <a:path h="1086612" w="1086612">
                  <a:moveTo>
                    <a:pt x="181102" y="0"/>
                  </a:moveTo>
                  <a:lnTo>
                    <a:pt x="1086612" y="0"/>
                  </a:lnTo>
                  <a:lnTo>
                    <a:pt x="1086612" y="905510"/>
                  </a:lnTo>
                  <a:cubicBezTo>
                    <a:pt x="1086612" y="1005586"/>
                    <a:pt x="1005586" y="1086612"/>
                    <a:pt x="905510" y="1086612"/>
                  </a:cubicBezTo>
                  <a:lnTo>
                    <a:pt x="0" y="1086612"/>
                  </a:lnTo>
                  <a:lnTo>
                    <a:pt x="0" y="181102"/>
                  </a:lnTo>
                  <a:cubicBezTo>
                    <a:pt x="0" y="81026"/>
                    <a:pt x="81026" y="0"/>
                    <a:pt x="181102" y="0"/>
                  </a:cubicBezTo>
                  <a:close/>
                </a:path>
              </a:pathLst>
            </a:custGeom>
            <a:solidFill>
              <a:srgbClr val="DEDEDE"/>
            </a:solidFill>
          </p:spPr>
        </p:sp>
        <p:sp>
          <p:nvSpPr>
            <p:cNvPr name="TextBox 24" id="24"/>
            <p:cNvSpPr txBox="true"/>
            <p:nvPr/>
          </p:nvSpPr>
          <p:spPr>
            <a:xfrm>
              <a:off x="0" y="-19050"/>
              <a:ext cx="1086678" cy="1105728"/>
            </a:xfrm>
            <a:prstGeom prst="rect">
              <a:avLst/>
            </a:prstGeom>
          </p:spPr>
          <p:txBody>
            <a:bodyPr anchor="ctr" rtlCol="false" tIns="50800" lIns="50800" bIns="50800" rIns="50800"/>
            <a:lstStyle/>
            <a:p>
              <a:pPr algn="ctr">
                <a:lnSpc>
                  <a:spcPts val="3600"/>
                </a:lnSpc>
              </a:pPr>
              <a:r>
                <a:rPr lang="en-US" sz="3000" b="true">
                  <a:solidFill>
                    <a:srgbClr val="FFFFFF"/>
                  </a:solidFill>
                  <a:latin typeface="Arial Bold"/>
                  <a:ea typeface="Arial Bold"/>
                  <a:cs typeface="Arial Bold"/>
                  <a:sym typeface="Arial Bold"/>
                </a:rPr>
                <a:t>4</a:t>
              </a:r>
            </a:p>
          </p:txBody>
        </p:sp>
      </p:grpSp>
      <p:sp>
        <p:nvSpPr>
          <p:cNvPr name="TextBox 25" id="25"/>
          <p:cNvSpPr txBox="true"/>
          <p:nvPr/>
        </p:nvSpPr>
        <p:spPr>
          <a:xfrm rot="0">
            <a:off x="6146001" y="4617072"/>
            <a:ext cx="1613766" cy="575400"/>
          </a:xfrm>
          <a:prstGeom prst="rect">
            <a:avLst/>
          </a:prstGeom>
        </p:spPr>
        <p:txBody>
          <a:bodyPr anchor="t" rtlCol="false" tIns="0" lIns="0" bIns="0" rIns="0">
            <a:spAutoFit/>
          </a:bodyPr>
          <a:lstStyle/>
          <a:p>
            <a:pPr algn="l">
              <a:lnSpc>
                <a:spcPts val="3600"/>
              </a:lnSpc>
            </a:pPr>
            <a:r>
              <a:rPr lang="en-US" sz="3000">
                <a:solidFill>
                  <a:srgbClr val="575756"/>
                </a:solidFill>
                <a:latin typeface="Calibri (MS)"/>
                <a:ea typeface="Calibri (MS)"/>
                <a:cs typeface="Calibri (MS)"/>
                <a:sym typeface="Calibri (MS)"/>
              </a:rPr>
              <a:t>Functions</a:t>
            </a:r>
          </a:p>
        </p:txBody>
      </p:sp>
      <p:sp>
        <p:nvSpPr>
          <p:cNvPr name="AutoShape 26" id="26"/>
          <p:cNvSpPr/>
          <p:nvPr/>
        </p:nvSpPr>
        <p:spPr>
          <a:xfrm rot="3284">
            <a:off x="5304362" y="6394677"/>
            <a:ext cx="9968538" cy="0"/>
          </a:xfrm>
          <a:prstGeom prst="line">
            <a:avLst/>
          </a:prstGeom>
          <a:ln cap="rnd" w="9525">
            <a:solidFill>
              <a:srgbClr val="DEDEDE"/>
            </a:solidFill>
            <a:prstDash val="solid"/>
            <a:headEnd type="none" len="sm" w="sm"/>
            <a:tailEnd type="none" len="sm" w="sm"/>
          </a:ln>
        </p:spPr>
      </p:sp>
      <p:grpSp>
        <p:nvGrpSpPr>
          <p:cNvPr name="Group 27" id="27"/>
          <p:cNvGrpSpPr/>
          <p:nvPr/>
        </p:nvGrpSpPr>
        <p:grpSpPr>
          <a:xfrm rot="0">
            <a:off x="4901624" y="5590491"/>
            <a:ext cx="815008" cy="815008"/>
            <a:chOff x="0" y="0"/>
            <a:chExt cx="1086678" cy="1086678"/>
          </a:xfrm>
        </p:grpSpPr>
        <p:sp>
          <p:nvSpPr>
            <p:cNvPr name="Freeform 28" id="28"/>
            <p:cNvSpPr/>
            <p:nvPr/>
          </p:nvSpPr>
          <p:spPr>
            <a:xfrm flipH="false" flipV="false" rot="0">
              <a:off x="0" y="0"/>
              <a:ext cx="1086612" cy="1086612"/>
            </a:xfrm>
            <a:custGeom>
              <a:avLst/>
              <a:gdLst/>
              <a:ahLst/>
              <a:cxnLst/>
              <a:rect r="r" b="b" t="t" l="l"/>
              <a:pathLst>
                <a:path h="1086612" w="1086612">
                  <a:moveTo>
                    <a:pt x="181102" y="0"/>
                  </a:moveTo>
                  <a:lnTo>
                    <a:pt x="1086612" y="0"/>
                  </a:lnTo>
                  <a:lnTo>
                    <a:pt x="1086612" y="905510"/>
                  </a:lnTo>
                  <a:cubicBezTo>
                    <a:pt x="1086612" y="1005586"/>
                    <a:pt x="1005586" y="1086612"/>
                    <a:pt x="905510" y="1086612"/>
                  </a:cubicBezTo>
                  <a:lnTo>
                    <a:pt x="0" y="1086612"/>
                  </a:lnTo>
                  <a:lnTo>
                    <a:pt x="0" y="181102"/>
                  </a:lnTo>
                  <a:cubicBezTo>
                    <a:pt x="0" y="81026"/>
                    <a:pt x="81026" y="0"/>
                    <a:pt x="181102" y="0"/>
                  </a:cubicBezTo>
                  <a:close/>
                </a:path>
              </a:pathLst>
            </a:custGeom>
            <a:solidFill>
              <a:srgbClr val="DEDEDE"/>
            </a:solidFill>
          </p:spPr>
        </p:sp>
        <p:sp>
          <p:nvSpPr>
            <p:cNvPr name="TextBox 29" id="29"/>
            <p:cNvSpPr txBox="true"/>
            <p:nvPr/>
          </p:nvSpPr>
          <p:spPr>
            <a:xfrm>
              <a:off x="0" y="-19050"/>
              <a:ext cx="1086678" cy="1105728"/>
            </a:xfrm>
            <a:prstGeom prst="rect">
              <a:avLst/>
            </a:prstGeom>
          </p:spPr>
          <p:txBody>
            <a:bodyPr anchor="ctr" rtlCol="false" tIns="50800" lIns="50800" bIns="50800" rIns="50800"/>
            <a:lstStyle/>
            <a:p>
              <a:pPr algn="ctr">
                <a:lnSpc>
                  <a:spcPts val="3600"/>
                </a:lnSpc>
              </a:pPr>
              <a:r>
                <a:rPr lang="en-US" sz="3000" b="true">
                  <a:solidFill>
                    <a:srgbClr val="FFFFFF"/>
                  </a:solidFill>
                  <a:latin typeface="Arial Bold"/>
                  <a:ea typeface="Arial Bold"/>
                  <a:cs typeface="Arial Bold"/>
                  <a:sym typeface="Arial Bold"/>
                </a:rPr>
                <a:t>5</a:t>
              </a:r>
            </a:p>
          </p:txBody>
        </p:sp>
      </p:grpSp>
      <p:sp>
        <p:nvSpPr>
          <p:cNvPr name="TextBox 30" id="30"/>
          <p:cNvSpPr txBox="true"/>
          <p:nvPr/>
        </p:nvSpPr>
        <p:spPr>
          <a:xfrm rot="0">
            <a:off x="6146001" y="5630790"/>
            <a:ext cx="1917792" cy="575400"/>
          </a:xfrm>
          <a:prstGeom prst="rect">
            <a:avLst/>
          </a:prstGeom>
        </p:spPr>
        <p:txBody>
          <a:bodyPr anchor="t" rtlCol="false" tIns="0" lIns="0" bIns="0" rIns="0">
            <a:spAutoFit/>
          </a:bodyPr>
          <a:lstStyle/>
          <a:p>
            <a:pPr algn="l">
              <a:lnSpc>
                <a:spcPts val="3600"/>
              </a:lnSpc>
            </a:pPr>
            <a:r>
              <a:rPr lang="en-US" sz="3000">
                <a:solidFill>
                  <a:srgbClr val="575756"/>
                </a:solidFill>
                <a:latin typeface="Calibri (MS)"/>
                <a:ea typeface="Calibri (MS)"/>
                <a:cs typeface="Calibri (MS)"/>
                <a:sym typeface="Calibri (MS)"/>
              </a:rPr>
              <a:t>Innovations</a:t>
            </a:r>
          </a:p>
        </p:txBody>
      </p:sp>
      <p:sp>
        <p:nvSpPr>
          <p:cNvPr name="AutoShape 31" id="31"/>
          <p:cNvSpPr/>
          <p:nvPr/>
        </p:nvSpPr>
        <p:spPr>
          <a:xfrm rot="3284">
            <a:off x="5304362" y="7408395"/>
            <a:ext cx="9968538" cy="0"/>
          </a:xfrm>
          <a:prstGeom prst="line">
            <a:avLst/>
          </a:prstGeom>
          <a:ln cap="rnd" w="9525">
            <a:solidFill>
              <a:srgbClr val="DEDEDE"/>
            </a:solidFill>
            <a:prstDash val="solid"/>
            <a:headEnd type="none" len="sm" w="sm"/>
            <a:tailEnd type="none" len="sm" w="sm"/>
          </a:ln>
        </p:spPr>
      </p:sp>
      <p:grpSp>
        <p:nvGrpSpPr>
          <p:cNvPr name="Group 32" id="32"/>
          <p:cNvGrpSpPr/>
          <p:nvPr/>
        </p:nvGrpSpPr>
        <p:grpSpPr>
          <a:xfrm rot="0">
            <a:off x="4901624" y="6604209"/>
            <a:ext cx="815008" cy="815008"/>
            <a:chOff x="0" y="0"/>
            <a:chExt cx="1086678" cy="1086678"/>
          </a:xfrm>
        </p:grpSpPr>
        <p:sp>
          <p:nvSpPr>
            <p:cNvPr name="Freeform 33" id="33"/>
            <p:cNvSpPr/>
            <p:nvPr/>
          </p:nvSpPr>
          <p:spPr>
            <a:xfrm flipH="false" flipV="false" rot="0">
              <a:off x="0" y="0"/>
              <a:ext cx="1086612" cy="1086612"/>
            </a:xfrm>
            <a:custGeom>
              <a:avLst/>
              <a:gdLst/>
              <a:ahLst/>
              <a:cxnLst/>
              <a:rect r="r" b="b" t="t" l="l"/>
              <a:pathLst>
                <a:path h="1086612" w="1086612">
                  <a:moveTo>
                    <a:pt x="181102" y="0"/>
                  </a:moveTo>
                  <a:lnTo>
                    <a:pt x="1086612" y="0"/>
                  </a:lnTo>
                  <a:lnTo>
                    <a:pt x="1086612" y="905510"/>
                  </a:lnTo>
                  <a:cubicBezTo>
                    <a:pt x="1086612" y="1005586"/>
                    <a:pt x="1005586" y="1086612"/>
                    <a:pt x="905510" y="1086612"/>
                  </a:cubicBezTo>
                  <a:lnTo>
                    <a:pt x="0" y="1086612"/>
                  </a:lnTo>
                  <a:lnTo>
                    <a:pt x="0" y="181102"/>
                  </a:lnTo>
                  <a:cubicBezTo>
                    <a:pt x="0" y="81026"/>
                    <a:pt x="81026" y="0"/>
                    <a:pt x="181102" y="0"/>
                  </a:cubicBezTo>
                  <a:close/>
                </a:path>
              </a:pathLst>
            </a:custGeom>
            <a:solidFill>
              <a:srgbClr val="DEDEDE"/>
            </a:solidFill>
          </p:spPr>
        </p:sp>
        <p:sp>
          <p:nvSpPr>
            <p:cNvPr name="TextBox 34" id="34"/>
            <p:cNvSpPr txBox="true"/>
            <p:nvPr/>
          </p:nvSpPr>
          <p:spPr>
            <a:xfrm>
              <a:off x="0" y="-19050"/>
              <a:ext cx="1086678" cy="1105728"/>
            </a:xfrm>
            <a:prstGeom prst="rect">
              <a:avLst/>
            </a:prstGeom>
          </p:spPr>
          <p:txBody>
            <a:bodyPr anchor="ctr" rtlCol="false" tIns="50800" lIns="50800" bIns="50800" rIns="50800"/>
            <a:lstStyle/>
            <a:p>
              <a:pPr algn="ctr">
                <a:lnSpc>
                  <a:spcPts val="3600"/>
                </a:lnSpc>
              </a:pPr>
              <a:r>
                <a:rPr lang="en-US" sz="3000" b="true">
                  <a:solidFill>
                    <a:srgbClr val="FFFFFF"/>
                  </a:solidFill>
                  <a:latin typeface="Arial Bold"/>
                  <a:ea typeface="Arial Bold"/>
                  <a:cs typeface="Arial Bold"/>
                  <a:sym typeface="Arial Bold"/>
                </a:rPr>
                <a:t>6</a:t>
              </a:r>
            </a:p>
          </p:txBody>
        </p:sp>
      </p:grpSp>
      <p:sp>
        <p:nvSpPr>
          <p:cNvPr name="TextBox 35" id="35"/>
          <p:cNvSpPr txBox="true"/>
          <p:nvPr/>
        </p:nvSpPr>
        <p:spPr>
          <a:xfrm rot="0">
            <a:off x="6145998" y="6644508"/>
            <a:ext cx="2395422" cy="575400"/>
          </a:xfrm>
          <a:prstGeom prst="rect">
            <a:avLst/>
          </a:prstGeom>
        </p:spPr>
        <p:txBody>
          <a:bodyPr anchor="t" rtlCol="false" tIns="0" lIns="0" bIns="0" rIns="0">
            <a:spAutoFit/>
          </a:bodyPr>
          <a:lstStyle/>
          <a:p>
            <a:pPr algn="l">
              <a:lnSpc>
                <a:spcPts val="3600"/>
              </a:lnSpc>
            </a:pPr>
            <a:r>
              <a:rPr lang="en-US" sz="3000">
                <a:solidFill>
                  <a:srgbClr val="575756"/>
                </a:solidFill>
                <a:latin typeface="Calibri (MS)"/>
                <a:ea typeface="Calibri (MS)"/>
                <a:cs typeface="Calibri (MS)"/>
                <a:sym typeface="Calibri (MS)"/>
              </a:rPr>
              <a:t>Business Value</a:t>
            </a:r>
          </a:p>
        </p:txBody>
      </p:sp>
      <p:grpSp>
        <p:nvGrpSpPr>
          <p:cNvPr name="Group 36" id="36"/>
          <p:cNvGrpSpPr>
            <a:grpSpLocks noChangeAspect="true"/>
          </p:cNvGrpSpPr>
          <p:nvPr/>
        </p:nvGrpSpPr>
        <p:grpSpPr>
          <a:xfrm rot="0">
            <a:off x="169036" y="5130045"/>
            <a:ext cx="4286250" cy="4286250"/>
            <a:chOff x="0" y="0"/>
            <a:chExt cx="5715000" cy="5715000"/>
          </a:xfrm>
        </p:grpSpPr>
        <p:sp>
          <p:nvSpPr>
            <p:cNvPr name="Freeform 37" id="37"/>
            <p:cNvSpPr/>
            <p:nvPr/>
          </p:nvSpPr>
          <p:spPr>
            <a:xfrm flipH="false" flipV="false" rot="0">
              <a:off x="0" y="0"/>
              <a:ext cx="5715000" cy="5715000"/>
            </a:xfrm>
            <a:custGeom>
              <a:avLst/>
              <a:gdLst/>
              <a:ahLst/>
              <a:cxnLst/>
              <a:rect r="r" b="b" t="t" l="l"/>
              <a:pathLst>
                <a:path h="5715000" w="5715000">
                  <a:moveTo>
                    <a:pt x="0" y="0"/>
                  </a:moveTo>
                  <a:lnTo>
                    <a:pt x="5715000" y="0"/>
                  </a:lnTo>
                  <a:lnTo>
                    <a:pt x="5715000" y="5715000"/>
                  </a:lnTo>
                  <a:lnTo>
                    <a:pt x="0" y="5715000"/>
                  </a:lnTo>
                  <a:lnTo>
                    <a:pt x="0" y="0"/>
                  </a:lnTo>
                  <a:close/>
                </a:path>
              </a:pathLst>
            </a:custGeom>
            <a:blipFill>
              <a:blip r:embed="rId4"/>
              <a:stretch>
                <a:fillRect l="0" t="0" r="0" b="0"/>
              </a:stretch>
            </a:blipFill>
          </p:spPr>
        </p:sp>
      </p:grpSp>
      <p:grpSp>
        <p:nvGrpSpPr>
          <p:cNvPr name="Group 38" id="38"/>
          <p:cNvGrpSpPr/>
          <p:nvPr/>
        </p:nvGrpSpPr>
        <p:grpSpPr>
          <a:xfrm rot="0">
            <a:off x="11425805" y="44792"/>
            <a:ext cx="6722239" cy="1826943"/>
            <a:chOff x="0" y="0"/>
            <a:chExt cx="8962986" cy="2435924"/>
          </a:xfrm>
        </p:grpSpPr>
        <p:sp>
          <p:nvSpPr>
            <p:cNvPr name="Freeform 39" id="39"/>
            <p:cNvSpPr/>
            <p:nvPr/>
          </p:nvSpPr>
          <p:spPr>
            <a:xfrm flipH="false" flipV="false" rot="0">
              <a:off x="0" y="0"/>
              <a:ext cx="8963025" cy="2435987"/>
            </a:xfrm>
            <a:custGeom>
              <a:avLst/>
              <a:gdLst/>
              <a:ahLst/>
              <a:cxnLst/>
              <a:rect r="r" b="b" t="t" l="l"/>
              <a:pathLst>
                <a:path h="2435987" w="8963025">
                  <a:moveTo>
                    <a:pt x="0" y="0"/>
                  </a:moveTo>
                  <a:lnTo>
                    <a:pt x="8963025" y="0"/>
                  </a:lnTo>
                  <a:lnTo>
                    <a:pt x="8963025" y="2435987"/>
                  </a:lnTo>
                  <a:lnTo>
                    <a:pt x="0" y="2435987"/>
                  </a:lnTo>
                  <a:close/>
                </a:path>
              </a:pathLst>
            </a:custGeom>
            <a:solidFill>
              <a:srgbClr val="DEEBF7"/>
            </a:solidFill>
          </p:spPr>
        </p:sp>
        <p:sp>
          <p:nvSpPr>
            <p:cNvPr name="TextBox 40" id="40"/>
            <p:cNvSpPr txBox="true"/>
            <p:nvPr/>
          </p:nvSpPr>
          <p:spPr>
            <a:xfrm>
              <a:off x="0" y="-85725"/>
              <a:ext cx="8962986" cy="2521649"/>
            </a:xfrm>
            <a:prstGeom prst="rect">
              <a:avLst/>
            </a:prstGeom>
          </p:spPr>
          <p:txBody>
            <a:bodyPr anchor="t" rtlCol="false" tIns="50800" lIns="50800" bIns="50800" rIns="50800"/>
            <a:lstStyle/>
            <a:p>
              <a:pPr algn="l">
                <a:lnSpc>
                  <a:spcPts val="2700"/>
                </a:lnSpc>
              </a:pPr>
              <a:r>
                <a:rPr lang="en-US" sz="1500" spc="6">
                  <a:solidFill>
                    <a:srgbClr val="FF0000"/>
                  </a:solidFill>
                  <a:latin typeface="Merriweather Sans"/>
                  <a:ea typeface="Merriweather Sans"/>
                  <a:cs typeface="Merriweather Sans"/>
                  <a:sym typeface="Merriweather Sans"/>
                </a:rPr>
                <a:t>Note:</a:t>
              </a:r>
            </a:p>
            <a:p>
              <a:pPr algn="l" marL="271462" indent="-135731" lvl="1">
                <a:lnSpc>
                  <a:spcPts val="2700"/>
                </a:lnSpc>
                <a:buFont typeface="Arial"/>
                <a:buChar char="•"/>
              </a:pPr>
              <a:r>
                <a:rPr lang="en-US" sz="1500" spc="6">
                  <a:solidFill>
                    <a:srgbClr val="FF0000"/>
                  </a:solidFill>
                  <a:latin typeface="Merriweather Sans"/>
                  <a:ea typeface="Merriweather Sans"/>
                  <a:cs typeface="Merriweather Sans"/>
                  <a:sym typeface="Merriweather Sans"/>
                </a:rPr>
                <a:t>The section titles listed below are for reference and you can re-sequence them as required.</a:t>
              </a:r>
            </a:p>
            <a:p>
              <a:pPr algn="l" marL="271462" indent="-135731" lvl="1">
                <a:lnSpc>
                  <a:spcPts val="2700"/>
                </a:lnSpc>
                <a:buFont typeface="Arial"/>
                <a:buChar char="•"/>
              </a:pPr>
              <a:r>
                <a:rPr lang="en-US" sz="1500" spc="6">
                  <a:solidFill>
                    <a:srgbClr val="FF0000"/>
                  </a:solidFill>
                  <a:latin typeface="Merriweather Sans"/>
                  <a:ea typeface="Merriweather Sans"/>
                  <a:cs typeface="Merriweather Sans"/>
                  <a:sym typeface="Merriweather Sans"/>
                </a:rPr>
                <a:t>You can add multiple slides for each section.</a:t>
              </a:r>
            </a:p>
            <a:p>
              <a:pPr algn="l" marL="271462" indent="-135731" lvl="1">
                <a:lnSpc>
                  <a:spcPts val="2700"/>
                </a:lnSpc>
                <a:buFont typeface="Arial"/>
                <a:buChar char="•"/>
              </a:pPr>
              <a:r>
                <a:rPr lang="en-US" sz="1500" spc="6">
                  <a:solidFill>
                    <a:srgbClr val="FF0000"/>
                  </a:solidFill>
                  <a:latin typeface="Merriweather Sans"/>
                  <a:ea typeface="Merriweather Sans"/>
                  <a:cs typeface="Merriweather Sans"/>
                  <a:sym typeface="Merriweather Sans"/>
                </a:rPr>
                <a:t>Delete this note when submitting your presentation.</a:t>
              </a:r>
            </a:p>
          </p:txBody>
        </p:sp>
      </p:grpSp>
      <p:sp>
        <p:nvSpPr>
          <p:cNvPr name="AutoShape 41" id="41"/>
          <p:cNvSpPr/>
          <p:nvPr/>
        </p:nvSpPr>
        <p:spPr>
          <a:xfrm rot="3284">
            <a:off x="5304362" y="8422113"/>
            <a:ext cx="9968538" cy="0"/>
          </a:xfrm>
          <a:prstGeom prst="line">
            <a:avLst/>
          </a:prstGeom>
          <a:ln cap="rnd" w="9525">
            <a:solidFill>
              <a:srgbClr val="DEDEDE"/>
            </a:solidFill>
            <a:prstDash val="solid"/>
            <a:headEnd type="none" len="sm" w="sm"/>
            <a:tailEnd type="none" len="sm" w="sm"/>
          </a:ln>
        </p:spPr>
      </p:sp>
      <p:grpSp>
        <p:nvGrpSpPr>
          <p:cNvPr name="Group 42" id="42"/>
          <p:cNvGrpSpPr/>
          <p:nvPr/>
        </p:nvGrpSpPr>
        <p:grpSpPr>
          <a:xfrm rot="0">
            <a:off x="4901624" y="7617927"/>
            <a:ext cx="815008" cy="815008"/>
            <a:chOff x="0" y="0"/>
            <a:chExt cx="1086678" cy="1086678"/>
          </a:xfrm>
        </p:grpSpPr>
        <p:sp>
          <p:nvSpPr>
            <p:cNvPr name="Freeform 43" id="43"/>
            <p:cNvSpPr/>
            <p:nvPr/>
          </p:nvSpPr>
          <p:spPr>
            <a:xfrm flipH="false" flipV="false" rot="0">
              <a:off x="0" y="0"/>
              <a:ext cx="1086612" cy="1086612"/>
            </a:xfrm>
            <a:custGeom>
              <a:avLst/>
              <a:gdLst/>
              <a:ahLst/>
              <a:cxnLst/>
              <a:rect r="r" b="b" t="t" l="l"/>
              <a:pathLst>
                <a:path h="1086612" w="1086612">
                  <a:moveTo>
                    <a:pt x="181102" y="0"/>
                  </a:moveTo>
                  <a:lnTo>
                    <a:pt x="1086612" y="0"/>
                  </a:lnTo>
                  <a:lnTo>
                    <a:pt x="1086612" y="905510"/>
                  </a:lnTo>
                  <a:cubicBezTo>
                    <a:pt x="1086612" y="1005586"/>
                    <a:pt x="1005586" y="1086612"/>
                    <a:pt x="905510" y="1086612"/>
                  </a:cubicBezTo>
                  <a:lnTo>
                    <a:pt x="0" y="1086612"/>
                  </a:lnTo>
                  <a:lnTo>
                    <a:pt x="0" y="181102"/>
                  </a:lnTo>
                  <a:cubicBezTo>
                    <a:pt x="0" y="81026"/>
                    <a:pt x="81026" y="0"/>
                    <a:pt x="181102" y="0"/>
                  </a:cubicBezTo>
                  <a:close/>
                </a:path>
              </a:pathLst>
            </a:custGeom>
            <a:solidFill>
              <a:srgbClr val="DEDEDE"/>
            </a:solidFill>
          </p:spPr>
        </p:sp>
        <p:sp>
          <p:nvSpPr>
            <p:cNvPr name="TextBox 44" id="44"/>
            <p:cNvSpPr txBox="true"/>
            <p:nvPr/>
          </p:nvSpPr>
          <p:spPr>
            <a:xfrm>
              <a:off x="0" y="-19050"/>
              <a:ext cx="1086678" cy="1105728"/>
            </a:xfrm>
            <a:prstGeom prst="rect">
              <a:avLst/>
            </a:prstGeom>
          </p:spPr>
          <p:txBody>
            <a:bodyPr anchor="ctr" rtlCol="false" tIns="50800" lIns="50800" bIns="50800" rIns="50800"/>
            <a:lstStyle/>
            <a:p>
              <a:pPr algn="ctr">
                <a:lnSpc>
                  <a:spcPts val="3600"/>
                </a:lnSpc>
              </a:pPr>
              <a:r>
                <a:rPr lang="en-US" sz="3000" b="true">
                  <a:solidFill>
                    <a:srgbClr val="FFFFFF"/>
                  </a:solidFill>
                  <a:latin typeface="Arial Bold"/>
                  <a:ea typeface="Arial Bold"/>
                  <a:cs typeface="Arial Bold"/>
                  <a:sym typeface="Arial Bold"/>
                </a:rPr>
                <a:t>7</a:t>
              </a:r>
            </a:p>
          </p:txBody>
        </p:sp>
      </p:grpSp>
      <p:sp>
        <p:nvSpPr>
          <p:cNvPr name="TextBox 45" id="45"/>
          <p:cNvSpPr txBox="true"/>
          <p:nvPr/>
        </p:nvSpPr>
        <p:spPr>
          <a:xfrm rot="0">
            <a:off x="6146001" y="7658226"/>
            <a:ext cx="3778204" cy="575400"/>
          </a:xfrm>
          <a:prstGeom prst="rect">
            <a:avLst/>
          </a:prstGeom>
        </p:spPr>
        <p:txBody>
          <a:bodyPr anchor="t" rtlCol="false" tIns="0" lIns="0" bIns="0" rIns="0">
            <a:spAutoFit/>
          </a:bodyPr>
          <a:lstStyle/>
          <a:p>
            <a:pPr algn="l">
              <a:lnSpc>
                <a:spcPts val="3600"/>
              </a:lnSpc>
            </a:pPr>
            <a:r>
              <a:rPr lang="en-US" sz="3000">
                <a:solidFill>
                  <a:srgbClr val="575756"/>
                </a:solidFill>
                <a:latin typeface="Calibri (MS)"/>
                <a:ea typeface="Calibri (MS)"/>
                <a:cs typeface="Calibri (MS)"/>
                <a:sym typeface="Calibri (MS)"/>
              </a:rPr>
              <a:t>Demo &amp; Follow-up Plan</a:t>
            </a:r>
          </a:p>
        </p:txBody>
      </p:sp>
      <p:sp>
        <p:nvSpPr>
          <p:cNvPr name="AutoShape 46" id="46"/>
          <p:cNvSpPr/>
          <p:nvPr/>
        </p:nvSpPr>
        <p:spPr>
          <a:xfrm rot="3284">
            <a:off x="5304362" y="9435832"/>
            <a:ext cx="9968538" cy="0"/>
          </a:xfrm>
          <a:prstGeom prst="line">
            <a:avLst/>
          </a:prstGeom>
          <a:ln cap="rnd" w="9525">
            <a:solidFill>
              <a:srgbClr val="DEDEDE"/>
            </a:solidFill>
            <a:prstDash val="solid"/>
            <a:headEnd type="none" len="sm" w="sm"/>
            <a:tailEnd type="none" len="sm" w="sm"/>
          </a:ln>
        </p:spPr>
      </p:sp>
      <p:grpSp>
        <p:nvGrpSpPr>
          <p:cNvPr name="Group 47" id="47"/>
          <p:cNvGrpSpPr/>
          <p:nvPr/>
        </p:nvGrpSpPr>
        <p:grpSpPr>
          <a:xfrm rot="0">
            <a:off x="4901624" y="8631646"/>
            <a:ext cx="815008" cy="815008"/>
            <a:chOff x="0" y="0"/>
            <a:chExt cx="1086678" cy="1086678"/>
          </a:xfrm>
        </p:grpSpPr>
        <p:sp>
          <p:nvSpPr>
            <p:cNvPr name="Freeform 48" id="48"/>
            <p:cNvSpPr/>
            <p:nvPr/>
          </p:nvSpPr>
          <p:spPr>
            <a:xfrm flipH="false" flipV="false" rot="0">
              <a:off x="0" y="0"/>
              <a:ext cx="1086612" cy="1086612"/>
            </a:xfrm>
            <a:custGeom>
              <a:avLst/>
              <a:gdLst/>
              <a:ahLst/>
              <a:cxnLst/>
              <a:rect r="r" b="b" t="t" l="l"/>
              <a:pathLst>
                <a:path h="1086612" w="1086612">
                  <a:moveTo>
                    <a:pt x="181102" y="0"/>
                  </a:moveTo>
                  <a:lnTo>
                    <a:pt x="1086612" y="0"/>
                  </a:lnTo>
                  <a:lnTo>
                    <a:pt x="1086612" y="905510"/>
                  </a:lnTo>
                  <a:cubicBezTo>
                    <a:pt x="1086612" y="1005586"/>
                    <a:pt x="1005586" y="1086612"/>
                    <a:pt x="905510" y="1086612"/>
                  </a:cubicBezTo>
                  <a:lnTo>
                    <a:pt x="0" y="1086612"/>
                  </a:lnTo>
                  <a:lnTo>
                    <a:pt x="0" y="181102"/>
                  </a:lnTo>
                  <a:cubicBezTo>
                    <a:pt x="0" y="81026"/>
                    <a:pt x="81026" y="0"/>
                    <a:pt x="181102" y="0"/>
                  </a:cubicBezTo>
                  <a:close/>
                </a:path>
              </a:pathLst>
            </a:custGeom>
            <a:solidFill>
              <a:srgbClr val="DEDEDE"/>
            </a:solidFill>
          </p:spPr>
        </p:sp>
        <p:sp>
          <p:nvSpPr>
            <p:cNvPr name="TextBox 49" id="49"/>
            <p:cNvSpPr txBox="true"/>
            <p:nvPr/>
          </p:nvSpPr>
          <p:spPr>
            <a:xfrm>
              <a:off x="0" y="-19050"/>
              <a:ext cx="1086678" cy="1105728"/>
            </a:xfrm>
            <a:prstGeom prst="rect">
              <a:avLst/>
            </a:prstGeom>
          </p:spPr>
          <p:txBody>
            <a:bodyPr anchor="ctr" rtlCol="false" tIns="50800" lIns="50800" bIns="50800" rIns="50800"/>
            <a:lstStyle/>
            <a:p>
              <a:pPr algn="ctr">
                <a:lnSpc>
                  <a:spcPts val="3600"/>
                </a:lnSpc>
              </a:pPr>
              <a:r>
                <a:rPr lang="en-US" sz="3000" b="true">
                  <a:solidFill>
                    <a:srgbClr val="FFFFFF"/>
                  </a:solidFill>
                  <a:latin typeface="Arial Bold"/>
                  <a:ea typeface="Arial Bold"/>
                  <a:cs typeface="Arial Bold"/>
                  <a:sym typeface="Arial Bold"/>
                </a:rPr>
                <a:t>8</a:t>
              </a:r>
            </a:p>
          </p:txBody>
        </p:sp>
      </p:grpSp>
      <p:sp>
        <p:nvSpPr>
          <p:cNvPr name="TextBox 50" id="50"/>
          <p:cNvSpPr txBox="true"/>
          <p:nvPr/>
        </p:nvSpPr>
        <p:spPr>
          <a:xfrm rot="0">
            <a:off x="6145998" y="8671945"/>
            <a:ext cx="2304245" cy="575400"/>
          </a:xfrm>
          <a:prstGeom prst="rect">
            <a:avLst/>
          </a:prstGeom>
        </p:spPr>
        <p:txBody>
          <a:bodyPr anchor="t" rtlCol="false" tIns="0" lIns="0" bIns="0" rIns="0">
            <a:spAutoFit/>
          </a:bodyPr>
          <a:lstStyle/>
          <a:p>
            <a:pPr algn="l">
              <a:lnSpc>
                <a:spcPts val="3600"/>
              </a:lnSpc>
            </a:pPr>
            <a:r>
              <a:rPr lang="en-US" sz="3000">
                <a:solidFill>
                  <a:srgbClr val="575756"/>
                </a:solidFill>
                <a:latin typeface="Calibri (MS)"/>
                <a:ea typeface="Calibri (MS)"/>
                <a:cs typeface="Calibri (MS)"/>
                <a:sym typeface="Calibri (MS)"/>
              </a:rPr>
              <a:t>Achievements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9653451"/>
            <a:ext cx="18288000" cy="633549"/>
            <a:chOff x="0" y="0"/>
            <a:chExt cx="24384000" cy="844732"/>
          </a:xfrm>
        </p:grpSpPr>
        <p:sp>
          <p:nvSpPr>
            <p:cNvPr name="Freeform 4" id="4"/>
            <p:cNvSpPr/>
            <p:nvPr/>
          </p:nvSpPr>
          <p:spPr>
            <a:xfrm flipH="false" flipV="false" rot="0">
              <a:off x="0" y="0"/>
              <a:ext cx="24384000" cy="844677"/>
            </a:xfrm>
            <a:custGeom>
              <a:avLst/>
              <a:gdLst/>
              <a:ahLst/>
              <a:cxnLst/>
              <a:rect r="r" b="b" t="t" l="l"/>
              <a:pathLst>
                <a:path h="844677" w="24384000">
                  <a:moveTo>
                    <a:pt x="0" y="0"/>
                  </a:moveTo>
                  <a:lnTo>
                    <a:pt x="24384000" y="0"/>
                  </a:lnTo>
                  <a:lnTo>
                    <a:pt x="24384000" y="844677"/>
                  </a:lnTo>
                  <a:lnTo>
                    <a:pt x="0" y="844677"/>
                  </a:lnTo>
                  <a:close/>
                </a:path>
              </a:pathLst>
            </a:custGeom>
            <a:solidFill>
              <a:srgbClr val="D7E4F4"/>
            </a:solidFill>
          </p:spPr>
        </p:sp>
      </p:grpSp>
      <p:grpSp>
        <p:nvGrpSpPr>
          <p:cNvPr name="Group 5" id="5"/>
          <p:cNvGrpSpPr>
            <a:grpSpLocks noChangeAspect="true"/>
          </p:cNvGrpSpPr>
          <p:nvPr/>
        </p:nvGrpSpPr>
        <p:grpSpPr>
          <a:xfrm rot="0">
            <a:off x="15651051" y="7333276"/>
            <a:ext cx="2636949" cy="2636949"/>
            <a:chOff x="0" y="0"/>
            <a:chExt cx="3515932" cy="3515932"/>
          </a:xfrm>
        </p:grpSpPr>
        <p:sp>
          <p:nvSpPr>
            <p:cNvPr name="Freeform 6" id="6"/>
            <p:cNvSpPr/>
            <p:nvPr/>
          </p:nvSpPr>
          <p:spPr>
            <a:xfrm flipH="false" flipV="false" rot="0">
              <a:off x="0" y="0"/>
              <a:ext cx="3515995" cy="3515995"/>
            </a:xfrm>
            <a:custGeom>
              <a:avLst/>
              <a:gdLst/>
              <a:ahLst/>
              <a:cxnLst/>
              <a:rect r="r" b="b" t="t" l="l"/>
              <a:pathLst>
                <a:path h="3515995" w="3515995">
                  <a:moveTo>
                    <a:pt x="0" y="0"/>
                  </a:moveTo>
                  <a:lnTo>
                    <a:pt x="3515995" y="0"/>
                  </a:lnTo>
                  <a:lnTo>
                    <a:pt x="3515995" y="3515995"/>
                  </a:lnTo>
                  <a:lnTo>
                    <a:pt x="0" y="3515995"/>
                  </a:lnTo>
                  <a:lnTo>
                    <a:pt x="0" y="0"/>
                  </a:lnTo>
                  <a:close/>
                </a:path>
              </a:pathLst>
            </a:custGeom>
            <a:blipFill>
              <a:blip r:embed="rId3"/>
              <a:stretch>
                <a:fillRect l="0" t="0" r="1" b="1"/>
              </a:stretch>
            </a:blipFill>
          </p:spPr>
        </p:sp>
      </p:grpSp>
      <p:grpSp>
        <p:nvGrpSpPr>
          <p:cNvPr name="Group 7" id="7"/>
          <p:cNvGrpSpPr>
            <a:grpSpLocks noChangeAspect="true"/>
          </p:cNvGrpSpPr>
          <p:nvPr/>
        </p:nvGrpSpPr>
        <p:grpSpPr>
          <a:xfrm rot="0">
            <a:off x="4295774" y="2777011"/>
            <a:ext cx="3157876" cy="3236333"/>
            <a:chOff x="0" y="0"/>
            <a:chExt cx="3067050" cy="3143250"/>
          </a:xfrm>
        </p:grpSpPr>
        <p:sp>
          <p:nvSpPr>
            <p:cNvPr name="Freeform 8" id="8"/>
            <p:cNvSpPr/>
            <p:nvPr/>
          </p:nvSpPr>
          <p:spPr>
            <a:xfrm flipH="false" flipV="false" rot="0">
              <a:off x="0" y="0"/>
              <a:ext cx="3067050" cy="3143250"/>
            </a:xfrm>
            <a:custGeom>
              <a:avLst/>
              <a:gdLst/>
              <a:ahLst/>
              <a:cxnLst/>
              <a:rect r="r" b="b" t="t" l="l"/>
              <a:pathLst>
                <a:path h="3143250" w="3067050">
                  <a:moveTo>
                    <a:pt x="0" y="0"/>
                  </a:moveTo>
                  <a:lnTo>
                    <a:pt x="3067050" y="0"/>
                  </a:lnTo>
                  <a:lnTo>
                    <a:pt x="3067050" y="3143250"/>
                  </a:lnTo>
                  <a:lnTo>
                    <a:pt x="0" y="3143250"/>
                  </a:lnTo>
                  <a:lnTo>
                    <a:pt x="0" y="0"/>
                  </a:lnTo>
                  <a:close/>
                </a:path>
              </a:pathLst>
            </a:custGeom>
            <a:blipFill>
              <a:blip r:embed="rId4"/>
              <a:stretch>
                <a:fillRect l="0" t="-15050" r="0" b="-15050"/>
              </a:stretch>
            </a:blipFill>
          </p:spPr>
        </p:sp>
      </p:grpSp>
      <p:grpSp>
        <p:nvGrpSpPr>
          <p:cNvPr name="Group 9" id="9"/>
          <p:cNvGrpSpPr>
            <a:grpSpLocks noChangeAspect="true"/>
          </p:cNvGrpSpPr>
          <p:nvPr/>
        </p:nvGrpSpPr>
        <p:grpSpPr>
          <a:xfrm rot="0">
            <a:off x="10934986" y="2777011"/>
            <a:ext cx="3157876" cy="3236333"/>
            <a:chOff x="0" y="0"/>
            <a:chExt cx="3067050" cy="3143250"/>
          </a:xfrm>
        </p:grpSpPr>
        <p:sp>
          <p:nvSpPr>
            <p:cNvPr name="Freeform 10" id="10"/>
            <p:cNvSpPr/>
            <p:nvPr/>
          </p:nvSpPr>
          <p:spPr>
            <a:xfrm flipH="false" flipV="false" rot="0">
              <a:off x="0" y="0"/>
              <a:ext cx="3067050" cy="3143250"/>
            </a:xfrm>
            <a:custGeom>
              <a:avLst/>
              <a:gdLst/>
              <a:ahLst/>
              <a:cxnLst/>
              <a:rect r="r" b="b" t="t" l="l"/>
              <a:pathLst>
                <a:path h="3143250" w="3067050">
                  <a:moveTo>
                    <a:pt x="0" y="0"/>
                  </a:moveTo>
                  <a:lnTo>
                    <a:pt x="3067050" y="0"/>
                  </a:lnTo>
                  <a:lnTo>
                    <a:pt x="3067050" y="3143250"/>
                  </a:lnTo>
                  <a:lnTo>
                    <a:pt x="0" y="3143250"/>
                  </a:lnTo>
                  <a:lnTo>
                    <a:pt x="0" y="0"/>
                  </a:lnTo>
                  <a:close/>
                </a:path>
              </a:pathLst>
            </a:custGeom>
            <a:blipFill>
              <a:blip r:embed="rId5"/>
              <a:stretch>
                <a:fillRect l="-1242" t="0" r="-1242" b="0"/>
              </a:stretch>
            </a:blipFill>
          </p:spPr>
        </p:sp>
      </p:grpSp>
      <p:sp>
        <p:nvSpPr>
          <p:cNvPr name="TextBox 11" id="11"/>
          <p:cNvSpPr txBox="true"/>
          <p:nvPr/>
        </p:nvSpPr>
        <p:spPr>
          <a:xfrm rot="0">
            <a:off x="1586929" y="718410"/>
            <a:ext cx="15921789" cy="453510"/>
          </a:xfrm>
          <a:prstGeom prst="rect">
            <a:avLst/>
          </a:prstGeom>
        </p:spPr>
        <p:txBody>
          <a:bodyPr anchor="t" rtlCol="false" tIns="0" lIns="0" bIns="0" rIns="0">
            <a:spAutoFit/>
          </a:bodyPr>
          <a:lstStyle/>
          <a:p>
            <a:pPr algn="l">
              <a:lnSpc>
                <a:spcPts val="4534"/>
              </a:lnSpc>
            </a:pPr>
            <a:r>
              <a:rPr lang="en-US" b="true" sz="4198" spc="16">
                <a:solidFill>
                  <a:srgbClr val="990000"/>
                </a:solidFill>
                <a:latin typeface="Merriweather Sans Bold"/>
                <a:ea typeface="Merriweather Sans Bold"/>
                <a:cs typeface="Merriweather Sans Bold"/>
                <a:sym typeface="Merriweather Sans Bold"/>
              </a:rPr>
              <a:t>Team Introduction</a:t>
            </a:r>
          </a:p>
        </p:txBody>
      </p:sp>
      <p:sp>
        <p:nvSpPr>
          <p:cNvPr name="TextBox 12" id="12"/>
          <p:cNvSpPr txBox="true"/>
          <p:nvPr/>
        </p:nvSpPr>
        <p:spPr>
          <a:xfrm rot="0">
            <a:off x="3966868" y="6516329"/>
            <a:ext cx="3715052" cy="993660"/>
          </a:xfrm>
          <a:prstGeom prst="rect">
            <a:avLst/>
          </a:prstGeom>
        </p:spPr>
        <p:txBody>
          <a:bodyPr anchor="t" rtlCol="false" tIns="0" lIns="0" bIns="0" rIns="0">
            <a:spAutoFit/>
          </a:bodyPr>
          <a:lstStyle/>
          <a:p>
            <a:pPr algn="ctr">
              <a:lnSpc>
                <a:spcPts val="3953"/>
              </a:lnSpc>
            </a:pPr>
            <a:r>
              <a:rPr lang="en-US" sz="3294" spc="13">
                <a:solidFill>
                  <a:srgbClr val="44546A"/>
                </a:solidFill>
                <a:latin typeface="Merriweather Sans"/>
                <a:ea typeface="Merriweather Sans"/>
                <a:cs typeface="Merriweather Sans"/>
                <a:sym typeface="Merriweather Sans"/>
              </a:rPr>
              <a:t>Khaireddine Arbouch</a:t>
            </a:r>
          </a:p>
        </p:txBody>
      </p:sp>
      <p:sp>
        <p:nvSpPr>
          <p:cNvPr name="TextBox 13" id="13"/>
          <p:cNvSpPr txBox="true"/>
          <p:nvPr/>
        </p:nvSpPr>
        <p:spPr>
          <a:xfrm rot="0">
            <a:off x="10606080" y="6516329"/>
            <a:ext cx="3715052" cy="496830"/>
          </a:xfrm>
          <a:prstGeom prst="rect">
            <a:avLst/>
          </a:prstGeom>
        </p:spPr>
        <p:txBody>
          <a:bodyPr anchor="t" rtlCol="false" tIns="0" lIns="0" bIns="0" rIns="0">
            <a:spAutoFit/>
          </a:bodyPr>
          <a:lstStyle/>
          <a:p>
            <a:pPr algn="ctr">
              <a:lnSpc>
                <a:spcPts val="3953"/>
              </a:lnSpc>
            </a:pPr>
            <a:r>
              <a:rPr lang="en-US" sz="3294" spc="13">
                <a:solidFill>
                  <a:srgbClr val="44546A"/>
                </a:solidFill>
                <a:latin typeface="Merriweather Sans"/>
                <a:ea typeface="Merriweather Sans"/>
                <a:cs typeface="Merriweather Sans"/>
                <a:sym typeface="Merriweather Sans"/>
              </a:rPr>
              <a:t>Anas Labgoul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660817" y="699960"/>
            <a:ext cx="15921789" cy="587860"/>
          </a:xfrm>
          <a:prstGeom prst="rect">
            <a:avLst/>
          </a:prstGeom>
        </p:spPr>
        <p:txBody>
          <a:bodyPr anchor="t" rtlCol="false" tIns="0" lIns="0" bIns="0" rIns="0">
            <a:spAutoFit/>
          </a:bodyPr>
          <a:lstStyle/>
          <a:p>
            <a:pPr algn="l">
              <a:lnSpc>
                <a:spcPts val="4534"/>
              </a:lnSpc>
            </a:pPr>
            <a:r>
              <a:rPr lang="en-US" b="true" sz="4198" spc="16">
                <a:solidFill>
                  <a:srgbClr val="990000"/>
                </a:solidFill>
                <a:latin typeface="Merriweather Sans Bold"/>
                <a:ea typeface="Merriweather Sans Bold"/>
                <a:cs typeface="Merriweather Sans Bold"/>
                <a:sym typeface="Merriweather Sans Bold"/>
              </a:rPr>
              <a:t>Project Introduction</a:t>
            </a:r>
          </a:p>
        </p:txBody>
      </p:sp>
      <p:sp>
        <p:nvSpPr>
          <p:cNvPr name="TextBox 4" id="4"/>
          <p:cNvSpPr txBox="true"/>
          <p:nvPr/>
        </p:nvSpPr>
        <p:spPr>
          <a:xfrm rot="0">
            <a:off x="1188415" y="1810998"/>
            <a:ext cx="15911169" cy="7273539"/>
          </a:xfrm>
          <a:prstGeom prst="rect">
            <a:avLst/>
          </a:prstGeom>
        </p:spPr>
        <p:txBody>
          <a:bodyPr anchor="t" rtlCol="false" tIns="0" lIns="0" bIns="0" rIns="0">
            <a:spAutoFit/>
          </a:bodyPr>
          <a:lstStyle/>
          <a:p>
            <a:pPr algn="l">
              <a:lnSpc>
                <a:spcPts val="4857"/>
              </a:lnSpc>
            </a:pPr>
            <a:r>
              <a:rPr lang="en-US" sz="2698" b="true">
                <a:solidFill>
                  <a:srgbClr val="000000"/>
                </a:solidFill>
                <a:latin typeface="Calibri (MS) Bold"/>
                <a:ea typeface="Calibri (MS) Bold"/>
                <a:cs typeface="Calibri (MS) Bold"/>
                <a:sym typeface="Calibri (MS) Bold"/>
              </a:rPr>
              <a:t>Project Background</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Sketch-to-Design gap slows product cycles in emerging tech markets</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Hand-drawn wireframes require manual conversion to production UI code</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North African design/dev ecosystems lack rapid, affordable tooling</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s2c: AI-powered SaaS automating sketch → UI code with cloud-native architecture</a:t>
            </a:r>
          </a:p>
          <a:p>
            <a:pPr algn="l">
              <a:lnSpc>
                <a:spcPts val="4857"/>
              </a:lnSpc>
            </a:pPr>
          </a:p>
          <a:p>
            <a:pPr algn="l">
              <a:lnSpc>
                <a:spcPts val="4857"/>
              </a:lnSpc>
            </a:pPr>
            <a:r>
              <a:rPr lang="en-US" sz="2698" b="true">
                <a:solidFill>
                  <a:srgbClr val="000000"/>
                </a:solidFill>
                <a:latin typeface="Calibri (MS) Bold"/>
                <a:ea typeface="Calibri (MS) Bold"/>
                <a:cs typeface="Calibri (MS) Bold"/>
                <a:sym typeface="Calibri (MS) Bold"/>
              </a:rPr>
              <a:t>Features</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Upload sketches or inspiration images for processing</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Two-stage AI pipeline: layout extraction → code generation</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Live preview of generated UI + exportable code bundle (React + Tailwind)</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Workflow orchestration with Inngest &amp; containerized app for portability</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Cloud-ready architecture (docker-container, ready for Huawei Cloud integration)</a:t>
            </a:r>
          </a:p>
          <a:p>
            <a:pPr algn="l">
              <a:lnSpc>
                <a:spcPts val="4317"/>
              </a:lnSpc>
            </a:pPr>
          </a:p>
        </p:txBody>
      </p:sp>
      <p:grpSp>
        <p:nvGrpSpPr>
          <p:cNvPr name="Group 5" id="5"/>
          <p:cNvGrpSpPr/>
          <p:nvPr/>
        </p:nvGrpSpPr>
        <p:grpSpPr>
          <a:xfrm rot="0">
            <a:off x="0" y="9653451"/>
            <a:ext cx="18288000" cy="633549"/>
            <a:chOff x="0" y="0"/>
            <a:chExt cx="24384000" cy="844732"/>
          </a:xfrm>
        </p:grpSpPr>
        <p:sp>
          <p:nvSpPr>
            <p:cNvPr name="Freeform 6" id="6"/>
            <p:cNvSpPr/>
            <p:nvPr/>
          </p:nvSpPr>
          <p:spPr>
            <a:xfrm flipH="false" flipV="false" rot="0">
              <a:off x="0" y="0"/>
              <a:ext cx="24384000" cy="844677"/>
            </a:xfrm>
            <a:custGeom>
              <a:avLst/>
              <a:gdLst/>
              <a:ahLst/>
              <a:cxnLst/>
              <a:rect r="r" b="b" t="t" l="l"/>
              <a:pathLst>
                <a:path h="844677" w="24384000">
                  <a:moveTo>
                    <a:pt x="0" y="0"/>
                  </a:moveTo>
                  <a:lnTo>
                    <a:pt x="24384000" y="0"/>
                  </a:lnTo>
                  <a:lnTo>
                    <a:pt x="24384000" y="844677"/>
                  </a:lnTo>
                  <a:lnTo>
                    <a:pt x="0" y="844677"/>
                  </a:lnTo>
                  <a:close/>
                </a:path>
              </a:pathLst>
            </a:custGeom>
            <a:solidFill>
              <a:srgbClr val="D7E4F4"/>
            </a:solidFill>
          </p:spPr>
        </p:sp>
      </p:grpSp>
      <p:grpSp>
        <p:nvGrpSpPr>
          <p:cNvPr name="Group 7" id="7"/>
          <p:cNvGrpSpPr>
            <a:grpSpLocks noChangeAspect="true"/>
          </p:cNvGrpSpPr>
          <p:nvPr/>
        </p:nvGrpSpPr>
        <p:grpSpPr>
          <a:xfrm rot="0">
            <a:off x="15651051" y="7333276"/>
            <a:ext cx="2636949" cy="2636949"/>
            <a:chOff x="0" y="0"/>
            <a:chExt cx="3515932" cy="3515932"/>
          </a:xfrm>
        </p:grpSpPr>
        <p:sp>
          <p:nvSpPr>
            <p:cNvPr name="Freeform 8" id="8"/>
            <p:cNvSpPr/>
            <p:nvPr/>
          </p:nvSpPr>
          <p:spPr>
            <a:xfrm flipH="false" flipV="false" rot="0">
              <a:off x="0" y="0"/>
              <a:ext cx="3515995" cy="3515995"/>
            </a:xfrm>
            <a:custGeom>
              <a:avLst/>
              <a:gdLst/>
              <a:ahLst/>
              <a:cxnLst/>
              <a:rect r="r" b="b" t="t" l="l"/>
              <a:pathLst>
                <a:path h="3515995" w="3515995">
                  <a:moveTo>
                    <a:pt x="0" y="0"/>
                  </a:moveTo>
                  <a:lnTo>
                    <a:pt x="3515995" y="0"/>
                  </a:lnTo>
                  <a:lnTo>
                    <a:pt x="3515995" y="3515995"/>
                  </a:lnTo>
                  <a:lnTo>
                    <a:pt x="0" y="3515995"/>
                  </a:lnTo>
                  <a:lnTo>
                    <a:pt x="0" y="0"/>
                  </a:lnTo>
                  <a:close/>
                </a:path>
              </a:pathLst>
            </a:custGeom>
            <a:blipFill>
              <a:blip r:embed="rId3"/>
              <a:stretch>
                <a:fillRect l="0" t="0" r="1" b="1"/>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660816" y="699960"/>
            <a:ext cx="15921789" cy="453510"/>
          </a:xfrm>
          <a:prstGeom prst="rect">
            <a:avLst/>
          </a:prstGeom>
        </p:spPr>
        <p:txBody>
          <a:bodyPr anchor="t" rtlCol="false" tIns="0" lIns="0" bIns="0" rIns="0">
            <a:spAutoFit/>
          </a:bodyPr>
          <a:lstStyle/>
          <a:p>
            <a:pPr algn="l">
              <a:lnSpc>
                <a:spcPts val="4534"/>
              </a:lnSpc>
            </a:pPr>
            <a:r>
              <a:rPr lang="en-US" b="true" sz="4198" spc="16">
                <a:solidFill>
                  <a:srgbClr val="990000"/>
                </a:solidFill>
                <a:latin typeface="Merriweather Sans Bold"/>
                <a:ea typeface="Merriweather Sans Bold"/>
                <a:cs typeface="Merriweather Sans Bold"/>
                <a:sym typeface="Merriweather Sans Bold"/>
              </a:rPr>
              <a:t>Project Introduction</a:t>
            </a:r>
          </a:p>
        </p:txBody>
      </p:sp>
      <p:sp>
        <p:nvSpPr>
          <p:cNvPr name="TextBox 4" id="4"/>
          <p:cNvSpPr txBox="true"/>
          <p:nvPr/>
        </p:nvSpPr>
        <p:spPr>
          <a:xfrm rot="0">
            <a:off x="1188415" y="1810998"/>
            <a:ext cx="15911169" cy="7206820"/>
          </a:xfrm>
          <a:prstGeom prst="rect">
            <a:avLst/>
          </a:prstGeom>
        </p:spPr>
        <p:txBody>
          <a:bodyPr anchor="t" rtlCol="false" tIns="0" lIns="0" bIns="0" rIns="0">
            <a:spAutoFit/>
          </a:bodyPr>
          <a:lstStyle/>
          <a:p>
            <a:pPr algn="l">
              <a:lnSpc>
                <a:spcPts val="4857"/>
              </a:lnSpc>
            </a:pPr>
            <a:r>
              <a:rPr lang="en-US" sz="2698" b="true">
                <a:solidFill>
                  <a:srgbClr val="000000"/>
                </a:solidFill>
                <a:latin typeface="Calibri (MS) Bold"/>
                <a:ea typeface="Calibri (MS) Bold"/>
                <a:cs typeface="Calibri (MS) Bold"/>
                <a:sym typeface="Calibri (MS) Bold"/>
              </a:rPr>
              <a:t>Application Scenarios &amp; Problems Solved</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Startups needing rapid UI prototypes with small teams</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Design agencies converting sketch files into frontend components quickly</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UI/UX education programs bridging design and code for students</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Solves: manual conversion time, skill gaps, resource constraints, slow iteration</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Enables small African teams to scale design production and launch faster</a:t>
            </a:r>
          </a:p>
          <a:p>
            <a:pPr algn="l">
              <a:lnSpc>
                <a:spcPts val="4317"/>
              </a:lnSpc>
            </a:pPr>
          </a:p>
          <a:p>
            <a:pPr algn="l">
              <a:lnSpc>
                <a:spcPts val="4857"/>
              </a:lnSpc>
            </a:pPr>
            <a:r>
              <a:rPr lang="en-US" sz="2698" b="true">
                <a:solidFill>
                  <a:srgbClr val="000000"/>
                </a:solidFill>
                <a:latin typeface="Calibri (MS) Bold"/>
                <a:ea typeface="Calibri (MS) Bold"/>
                <a:cs typeface="Calibri (MS) Bold"/>
                <a:sym typeface="Calibri (MS) Bold"/>
              </a:rPr>
              <a:t>T</a:t>
            </a:r>
            <a:r>
              <a:rPr lang="en-US" sz="2698" b="true">
                <a:solidFill>
                  <a:srgbClr val="000000"/>
                </a:solidFill>
                <a:latin typeface="Calibri (MS) Bold"/>
                <a:ea typeface="Calibri (MS) Bold"/>
                <a:cs typeface="Calibri (MS) Bold"/>
                <a:sym typeface="Calibri (MS) Bold"/>
              </a:rPr>
              <a:t>arget Users</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UX/UI Designers seeking automation in frontend component creation</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Frontend Developers who want jump-start generated components</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North African Startups &amp; SMEs building digital products leanly</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Educational Institutions &amp; Bootcamps teaching UI/UX + frontend Dev</a:t>
            </a:r>
          </a:p>
          <a:p>
            <a:pPr algn="l" marL="517836" indent="-258918" lvl="1">
              <a:lnSpc>
                <a:spcPts val="4317"/>
              </a:lnSpc>
              <a:buFont typeface="Arial"/>
              <a:buChar char="•"/>
            </a:pPr>
            <a:r>
              <a:rPr lang="en-US" sz="2398">
                <a:solidFill>
                  <a:srgbClr val="000000"/>
                </a:solidFill>
                <a:latin typeface="Calibri (MS)"/>
                <a:ea typeface="Calibri (MS)"/>
                <a:cs typeface="Calibri (MS)"/>
                <a:sym typeface="Calibri (MS)"/>
              </a:rPr>
              <a:t>Corporate Digital Transformation teams enabling internal design workflows</a:t>
            </a:r>
          </a:p>
        </p:txBody>
      </p:sp>
      <p:grpSp>
        <p:nvGrpSpPr>
          <p:cNvPr name="Group 5" id="5"/>
          <p:cNvGrpSpPr/>
          <p:nvPr/>
        </p:nvGrpSpPr>
        <p:grpSpPr>
          <a:xfrm rot="0">
            <a:off x="0" y="9653451"/>
            <a:ext cx="18288000" cy="633549"/>
            <a:chOff x="0" y="0"/>
            <a:chExt cx="24384000" cy="844732"/>
          </a:xfrm>
        </p:grpSpPr>
        <p:sp>
          <p:nvSpPr>
            <p:cNvPr name="Freeform 6" id="6"/>
            <p:cNvSpPr/>
            <p:nvPr/>
          </p:nvSpPr>
          <p:spPr>
            <a:xfrm flipH="false" flipV="false" rot="0">
              <a:off x="0" y="0"/>
              <a:ext cx="24384000" cy="844677"/>
            </a:xfrm>
            <a:custGeom>
              <a:avLst/>
              <a:gdLst/>
              <a:ahLst/>
              <a:cxnLst/>
              <a:rect r="r" b="b" t="t" l="l"/>
              <a:pathLst>
                <a:path h="844677" w="24384000">
                  <a:moveTo>
                    <a:pt x="0" y="0"/>
                  </a:moveTo>
                  <a:lnTo>
                    <a:pt x="24384000" y="0"/>
                  </a:lnTo>
                  <a:lnTo>
                    <a:pt x="24384000" y="844677"/>
                  </a:lnTo>
                  <a:lnTo>
                    <a:pt x="0" y="844677"/>
                  </a:lnTo>
                  <a:close/>
                </a:path>
              </a:pathLst>
            </a:custGeom>
            <a:solidFill>
              <a:srgbClr val="D7E4F4"/>
            </a:solidFill>
          </p:spPr>
        </p:sp>
      </p:grpSp>
      <p:grpSp>
        <p:nvGrpSpPr>
          <p:cNvPr name="Group 7" id="7"/>
          <p:cNvGrpSpPr>
            <a:grpSpLocks noChangeAspect="true"/>
          </p:cNvGrpSpPr>
          <p:nvPr/>
        </p:nvGrpSpPr>
        <p:grpSpPr>
          <a:xfrm rot="0">
            <a:off x="15651051" y="7333276"/>
            <a:ext cx="2636949" cy="2636949"/>
            <a:chOff x="0" y="0"/>
            <a:chExt cx="3515932" cy="3515932"/>
          </a:xfrm>
        </p:grpSpPr>
        <p:sp>
          <p:nvSpPr>
            <p:cNvPr name="Freeform 8" id="8"/>
            <p:cNvSpPr/>
            <p:nvPr/>
          </p:nvSpPr>
          <p:spPr>
            <a:xfrm flipH="false" flipV="false" rot="0">
              <a:off x="0" y="0"/>
              <a:ext cx="3515995" cy="3515995"/>
            </a:xfrm>
            <a:custGeom>
              <a:avLst/>
              <a:gdLst/>
              <a:ahLst/>
              <a:cxnLst/>
              <a:rect r="r" b="b" t="t" l="l"/>
              <a:pathLst>
                <a:path h="3515995" w="3515995">
                  <a:moveTo>
                    <a:pt x="0" y="0"/>
                  </a:moveTo>
                  <a:lnTo>
                    <a:pt x="3515995" y="0"/>
                  </a:lnTo>
                  <a:lnTo>
                    <a:pt x="3515995" y="3515995"/>
                  </a:lnTo>
                  <a:lnTo>
                    <a:pt x="0" y="3515995"/>
                  </a:lnTo>
                  <a:lnTo>
                    <a:pt x="0" y="0"/>
                  </a:lnTo>
                  <a:close/>
                </a:path>
              </a:pathLst>
            </a:custGeom>
            <a:blipFill>
              <a:blip r:embed="rId3"/>
              <a:stretch>
                <a:fillRect l="0" t="0" r="1" b="1"/>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9653451"/>
            <a:ext cx="18288000" cy="633549"/>
            <a:chOff x="0" y="0"/>
            <a:chExt cx="24384000" cy="844732"/>
          </a:xfrm>
        </p:grpSpPr>
        <p:sp>
          <p:nvSpPr>
            <p:cNvPr name="Freeform 4" id="4"/>
            <p:cNvSpPr/>
            <p:nvPr/>
          </p:nvSpPr>
          <p:spPr>
            <a:xfrm flipH="false" flipV="false" rot="0">
              <a:off x="0" y="0"/>
              <a:ext cx="24384000" cy="844677"/>
            </a:xfrm>
            <a:custGeom>
              <a:avLst/>
              <a:gdLst/>
              <a:ahLst/>
              <a:cxnLst/>
              <a:rect r="r" b="b" t="t" l="l"/>
              <a:pathLst>
                <a:path h="844677" w="24384000">
                  <a:moveTo>
                    <a:pt x="0" y="0"/>
                  </a:moveTo>
                  <a:lnTo>
                    <a:pt x="24384000" y="0"/>
                  </a:lnTo>
                  <a:lnTo>
                    <a:pt x="24384000" y="844677"/>
                  </a:lnTo>
                  <a:lnTo>
                    <a:pt x="0" y="844677"/>
                  </a:lnTo>
                  <a:close/>
                </a:path>
              </a:pathLst>
            </a:custGeom>
            <a:solidFill>
              <a:srgbClr val="D7E4F4"/>
            </a:solidFill>
          </p:spPr>
        </p:sp>
      </p:grpSp>
      <p:grpSp>
        <p:nvGrpSpPr>
          <p:cNvPr name="Group 5" id="5"/>
          <p:cNvGrpSpPr>
            <a:grpSpLocks noChangeAspect="true"/>
          </p:cNvGrpSpPr>
          <p:nvPr/>
        </p:nvGrpSpPr>
        <p:grpSpPr>
          <a:xfrm rot="0">
            <a:off x="15651051" y="7333276"/>
            <a:ext cx="2636949" cy="2636949"/>
            <a:chOff x="0" y="0"/>
            <a:chExt cx="3515932" cy="3515932"/>
          </a:xfrm>
        </p:grpSpPr>
        <p:sp>
          <p:nvSpPr>
            <p:cNvPr name="Freeform 6" id="6"/>
            <p:cNvSpPr/>
            <p:nvPr/>
          </p:nvSpPr>
          <p:spPr>
            <a:xfrm flipH="false" flipV="false" rot="0">
              <a:off x="0" y="0"/>
              <a:ext cx="3515995" cy="3515995"/>
            </a:xfrm>
            <a:custGeom>
              <a:avLst/>
              <a:gdLst/>
              <a:ahLst/>
              <a:cxnLst/>
              <a:rect r="r" b="b" t="t" l="l"/>
              <a:pathLst>
                <a:path h="3515995" w="3515995">
                  <a:moveTo>
                    <a:pt x="0" y="0"/>
                  </a:moveTo>
                  <a:lnTo>
                    <a:pt x="3515995" y="0"/>
                  </a:lnTo>
                  <a:lnTo>
                    <a:pt x="3515995" y="3515995"/>
                  </a:lnTo>
                  <a:lnTo>
                    <a:pt x="0" y="3515995"/>
                  </a:lnTo>
                  <a:lnTo>
                    <a:pt x="0" y="0"/>
                  </a:lnTo>
                  <a:close/>
                </a:path>
              </a:pathLst>
            </a:custGeom>
            <a:blipFill>
              <a:blip r:embed="rId3"/>
              <a:stretch>
                <a:fillRect l="0" t="0" r="1" b="1"/>
              </a:stretch>
            </a:blipFill>
          </p:spPr>
        </p:sp>
      </p:grpSp>
      <p:sp>
        <p:nvSpPr>
          <p:cNvPr name="Freeform 7" id="7"/>
          <p:cNvSpPr/>
          <p:nvPr/>
        </p:nvSpPr>
        <p:spPr>
          <a:xfrm flipH="false" flipV="false" rot="0">
            <a:off x="1372019" y="2294793"/>
            <a:ext cx="3973099" cy="6356958"/>
          </a:xfrm>
          <a:custGeom>
            <a:avLst/>
            <a:gdLst/>
            <a:ahLst/>
            <a:cxnLst/>
            <a:rect r="r" b="b" t="t" l="l"/>
            <a:pathLst>
              <a:path h="6356958" w="3973099">
                <a:moveTo>
                  <a:pt x="0" y="0"/>
                </a:moveTo>
                <a:lnTo>
                  <a:pt x="3973099" y="0"/>
                </a:lnTo>
                <a:lnTo>
                  <a:pt x="3973099" y="6356958"/>
                </a:lnTo>
                <a:lnTo>
                  <a:pt x="0" y="6356958"/>
                </a:lnTo>
                <a:lnTo>
                  <a:pt x="0" y="0"/>
                </a:lnTo>
                <a:close/>
              </a:path>
            </a:pathLst>
          </a:custGeom>
          <a:blipFill>
            <a:blip r:embed="rId4"/>
            <a:stretch>
              <a:fillRect l="0" t="0" r="0" b="0"/>
            </a:stretch>
          </a:blipFill>
        </p:spPr>
      </p:sp>
      <p:sp>
        <p:nvSpPr>
          <p:cNvPr name="TextBox 8" id="8"/>
          <p:cNvSpPr txBox="true"/>
          <p:nvPr/>
        </p:nvSpPr>
        <p:spPr>
          <a:xfrm rot="0">
            <a:off x="1660816" y="699960"/>
            <a:ext cx="15921789" cy="453510"/>
          </a:xfrm>
          <a:prstGeom prst="rect">
            <a:avLst/>
          </a:prstGeom>
        </p:spPr>
        <p:txBody>
          <a:bodyPr anchor="t" rtlCol="false" tIns="0" lIns="0" bIns="0" rIns="0">
            <a:spAutoFit/>
          </a:bodyPr>
          <a:lstStyle/>
          <a:p>
            <a:pPr algn="l">
              <a:lnSpc>
                <a:spcPts val="4534"/>
              </a:lnSpc>
            </a:pPr>
            <a:r>
              <a:rPr lang="en-US" b="true" sz="4198" spc="16">
                <a:solidFill>
                  <a:srgbClr val="990000"/>
                </a:solidFill>
                <a:latin typeface="Merriweather Sans Bold"/>
                <a:ea typeface="Merriweather Sans Bold"/>
                <a:cs typeface="Merriweather Sans Bold"/>
                <a:sym typeface="Merriweather Sans Bold"/>
              </a:rPr>
              <a:t>Technical Architecture</a:t>
            </a:r>
          </a:p>
        </p:txBody>
      </p:sp>
      <p:pic>
        <p:nvPicPr>
          <p:cNvPr name="Picture 9" id="9"/>
          <p:cNvPicPr>
            <a:picLocks noChangeAspect="true"/>
          </p:cNvPicPr>
          <p:nvPr/>
        </p:nvPicPr>
        <p:blipFill>
          <a:blip r:embed="rId5"/>
          <a:stretch>
            <a:fillRect/>
          </a:stretch>
        </p:blipFill>
        <p:spPr>
          <a:xfrm rot="0">
            <a:off x="8029205" y="2934581"/>
            <a:ext cx="4937760" cy="493776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644144" y="566578"/>
            <a:ext cx="16988843" cy="587860"/>
          </a:xfrm>
          <a:prstGeom prst="rect">
            <a:avLst/>
          </a:prstGeom>
        </p:spPr>
        <p:txBody>
          <a:bodyPr anchor="t" rtlCol="false" tIns="0" lIns="0" bIns="0" rIns="0">
            <a:spAutoFit/>
          </a:bodyPr>
          <a:lstStyle/>
          <a:p>
            <a:pPr algn="l">
              <a:lnSpc>
                <a:spcPts val="4534"/>
              </a:lnSpc>
            </a:pPr>
            <a:r>
              <a:rPr lang="en-US" b="true" sz="4198" spc="16">
                <a:solidFill>
                  <a:srgbClr val="990000"/>
                </a:solidFill>
                <a:latin typeface="Merriweather Sans Bold"/>
                <a:ea typeface="Merriweather Sans Bold"/>
                <a:cs typeface="Merriweather Sans Bold"/>
                <a:sym typeface="Merriweather Sans Bold"/>
              </a:rPr>
              <a:t>Overview &amp; Killer Functions</a:t>
            </a:r>
          </a:p>
        </p:txBody>
      </p:sp>
      <p:grpSp>
        <p:nvGrpSpPr>
          <p:cNvPr name="Group 4" id="4"/>
          <p:cNvGrpSpPr/>
          <p:nvPr/>
        </p:nvGrpSpPr>
        <p:grpSpPr>
          <a:xfrm rot="0">
            <a:off x="0" y="9653451"/>
            <a:ext cx="18288000" cy="633549"/>
            <a:chOff x="0" y="0"/>
            <a:chExt cx="24384000" cy="844732"/>
          </a:xfrm>
        </p:grpSpPr>
        <p:sp>
          <p:nvSpPr>
            <p:cNvPr name="Freeform 5" id="5"/>
            <p:cNvSpPr/>
            <p:nvPr/>
          </p:nvSpPr>
          <p:spPr>
            <a:xfrm flipH="false" flipV="false" rot="0">
              <a:off x="0" y="0"/>
              <a:ext cx="24384000" cy="844677"/>
            </a:xfrm>
            <a:custGeom>
              <a:avLst/>
              <a:gdLst/>
              <a:ahLst/>
              <a:cxnLst/>
              <a:rect r="r" b="b" t="t" l="l"/>
              <a:pathLst>
                <a:path h="844677" w="24384000">
                  <a:moveTo>
                    <a:pt x="0" y="0"/>
                  </a:moveTo>
                  <a:lnTo>
                    <a:pt x="24384000" y="0"/>
                  </a:lnTo>
                  <a:lnTo>
                    <a:pt x="24384000" y="844677"/>
                  </a:lnTo>
                  <a:lnTo>
                    <a:pt x="0" y="844677"/>
                  </a:lnTo>
                  <a:close/>
                </a:path>
              </a:pathLst>
            </a:custGeom>
            <a:solidFill>
              <a:srgbClr val="D7E4F4"/>
            </a:solidFill>
          </p:spPr>
        </p:sp>
      </p:grpSp>
      <p:grpSp>
        <p:nvGrpSpPr>
          <p:cNvPr name="Group 6" id="6"/>
          <p:cNvGrpSpPr>
            <a:grpSpLocks noChangeAspect="true"/>
          </p:cNvGrpSpPr>
          <p:nvPr/>
        </p:nvGrpSpPr>
        <p:grpSpPr>
          <a:xfrm rot="0">
            <a:off x="15651051" y="7333276"/>
            <a:ext cx="2636949" cy="2636949"/>
            <a:chOff x="0" y="0"/>
            <a:chExt cx="3515932" cy="3515932"/>
          </a:xfrm>
        </p:grpSpPr>
        <p:sp>
          <p:nvSpPr>
            <p:cNvPr name="Freeform 7" id="7"/>
            <p:cNvSpPr/>
            <p:nvPr/>
          </p:nvSpPr>
          <p:spPr>
            <a:xfrm flipH="false" flipV="false" rot="0">
              <a:off x="0" y="0"/>
              <a:ext cx="3515995" cy="3515995"/>
            </a:xfrm>
            <a:custGeom>
              <a:avLst/>
              <a:gdLst/>
              <a:ahLst/>
              <a:cxnLst/>
              <a:rect r="r" b="b" t="t" l="l"/>
              <a:pathLst>
                <a:path h="3515995" w="3515995">
                  <a:moveTo>
                    <a:pt x="0" y="0"/>
                  </a:moveTo>
                  <a:lnTo>
                    <a:pt x="3515995" y="0"/>
                  </a:lnTo>
                  <a:lnTo>
                    <a:pt x="3515995" y="3515995"/>
                  </a:lnTo>
                  <a:lnTo>
                    <a:pt x="0" y="3515995"/>
                  </a:lnTo>
                  <a:lnTo>
                    <a:pt x="0" y="0"/>
                  </a:lnTo>
                  <a:close/>
                </a:path>
              </a:pathLst>
            </a:custGeom>
            <a:blipFill>
              <a:blip r:embed="rId3"/>
              <a:stretch>
                <a:fillRect l="0" t="0" r="1" b="1"/>
              </a:stretch>
            </a:blipFill>
          </p:spPr>
        </p:sp>
      </p:grpSp>
      <p:sp>
        <p:nvSpPr>
          <p:cNvPr name="TextBox 8" id="8"/>
          <p:cNvSpPr txBox="true"/>
          <p:nvPr/>
        </p:nvSpPr>
        <p:spPr>
          <a:xfrm rot="0">
            <a:off x="1188415" y="2083958"/>
            <a:ext cx="15911169" cy="7219792"/>
          </a:xfrm>
          <a:prstGeom prst="rect">
            <a:avLst/>
          </a:prstGeom>
        </p:spPr>
        <p:txBody>
          <a:bodyPr anchor="t" rtlCol="false" tIns="0" lIns="0" bIns="0" rIns="0">
            <a:spAutoFit/>
          </a:bodyPr>
          <a:lstStyle/>
          <a:p>
            <a:pPr algn="l">
              <a:lnSpc>
                <a:spcPts val="4535"/>
              </a:lnSpc>
            </a:pPr>
            <a:r>
              <a:rPr lang="en-US" sz="2519" b="true">
                <a:solidFill>
                  <a:srgbClr val="000000"/>
                </a:solidFill>
                <a:latin typeface="Calibri (MS) Bold"/>
                <a:ea typeface="Calibri (MS) Bold"/>
                <a:cs typeface="Calibri (MS) Bold"/>
                <a:sym typeface="Calibri (MS) Bold"/>
              </a:rPr>
              <a:t>Overview</a:t>
            </a:r>
          </a:p>
          <a:p>
            <a:pPr algn="l" marL="401765" indent="-200882" lvl="1">
              <a:lnSpc>
                <a:spcPts val="3996"/>
              </a:lnSpc>
              <a:buFont typeface="Arial"/>
              <a:buChar char="•"/>
            </a:pPr>
            <a:r>
              <a:rPr lang="en-US" b="true" sz="2220">
                <a:solidFill>
                  <a:srgbClr val="000000"/>
                </a:solidFill>
                <a:latin typeface="Calibri (MS) Bold"/>
                <a:ea typeface="Calibri (MS) Bold"/>
                <a:cs typeface="Calibri (MS) Bold"/>
                <a:sym typeface="Calibri (MS) Bold"/>
              </a:rPr>
              <a:t>Instant sketch‑to‑code</a:t>
            </a:r>
            <a:r>
              <a:rPr lang="en-US" b="true" sz="2220">
                <a:solidFill>
                  <a:srgbClr val="000000"/>
                </a:solidFill>
                <a:latin typeface="Calibri (MS) Bold"/>
                <a:ea typeface="Calibri (MS) Bold"/>
                <a:cs typeface="Calibri (MS) Bold"/>
                <a:sym typeface="Calibri (MS) Bold"/>
              </a:rPr>
              <a:t>: </a:t>
            </a:r>
            <a:r>
              <a:rPr lang="en-US" sz="2220">
                <a:solidFill>
                  <a:srgbClr val="000000"/>
                </a:solidFill>
                <a:latin typeface="Calibri (MS)"/>
                <a:ea typeface="Calibri (MS)"/>
                <a:cs typeface="Calibri (MS)"/>
                <a:sym typeface="Calibri (MS)"/>
              </a:rPr>
              <a:t>Turn rough hand‑drawn UI sketches into clean, runnable frontend projects in minutes.</a:t>
            </a:r>
          </a:p>
          <a:p>
            <a:pPr algn="l" marL="401765" indent="-200882" lvl="1">
              <a:lnSpc>
                <a:spcPts val="3996"/>
              </a:lnSpc>
              <a:buFont typeface="Arial"/>
              <a:buChar char="•"/>
            </a:pPr>
            <a:r>
              <a:rPr lang="en-US" b="true" sz="2220">
                <a:solidFill>
                  <a:srgbClr val="000000"/>
                </a:solidFill>
                <a:latin typeface="Calibri (MS) Bold"/>
                <a:ea typeface="Calibri (MS) Bold"/>
                <a:cs typeface="Calibri (MS) Bold"/>
                <a:sym typeface="Calibri (MS) Bold"/>
              </a:rPr>
              <a:t>End‑to‑end pipeline: </a:t>
            </a:r>
            <a:r>
              <a:rPr lang="en-US" sz="2220">
                <a:solidFill>
                  <a:srgbClr val="000000"/>
                </a:solidFill>
                <a:latin typeface="Calibri (MS)"/>
                <a:ea typeface="Calibri (MS)"/>
                <a:cs typeface="Calibri (MS)"/>
                <a:sym typeface="Calibri (MS)"/>
              </a:rPr>
              <a:t>Upload sketch → AI understands layout → generates components + code → one‑click bundle download.</a:t>
            </a:r>
          </a:p>
          <a:p>
            <a:pPr algn="l">
              <a:lnSpc>
                <a:spcPts val="3996"/>
              </a:lnSpc>
            </a:pPr>
          </a:p>
          <a:p>
            <a:pPr algn="l">
              <a:lnSpc>
                <a:spcPts val="4535"/>
              </a:lnSpc>
            </a:pPr>
            <a:r>
              <a:rPr lang="en-US" sz="2519" b="true">
                <a:solidFill>
                  <a:srgbClr val="000000"/>
                </a:solidFill>
                <a:latin typeface="Calibri (MS) Bold"/>
                <a:ea typeface="Calibri (MS) Bold"/>
                <a:cs typeface="Calibri (MS) Bold"/>
                <a:sym typeface="Calibri (MS) Bold"/>
              </a:rPr>
              <a:t>Killer Functions &amp; Uniqueness</a:t>
            </a:r>
          </a:p>
          <a:p>
            <a:pPr algn="l" marL="479298" indent="-239649" lvl="1">
              <a:lnSpc>
                <a:spcPts val="3996"/>
              </a:lnSpc>
              <a:buFont typeface="Arial"/>
              <a:buChar char="•"/>
            </a:pPr>
            <a:r>
              <a:rPr lang="en-US" b="true" sz="2220">
                <a:solidFill>
                  <a:srgbClr val="000000"/>
                </a:solidFill>
                <a:latin typeface="Calibri (MS) Bold"/>
                <a:ea typeface="Calibri (MS) Bold"/>
                <a:cs typeface="Calibri (MS) Bold"/>
                <a:sym typeface="Calibri (MS) Bold"/>
              </a:rPr>
              <a:t>From doodle to production repo: </a:t>
            </a:r>
            <a:r>
              <a:rPr lang="en-US" sz="2220">
                <a:solidFill>
                  <a:srgbClr val="000000"/>
                </a:solidFill>
                <a:latin typeface="Calibri (MS)"/>
                <a:ea typeface="Calibri (MS)"/>
                <a:cs typeface="Calibri (MS)"/>
                <a:sym typeface="Calibri (MS)"/>
              </a:rPr>
              <a:t>Not just mockups or snippets – full project structure (pages, components, routing, styles) ready to npm run dev.</a:t>
            </a:r>
          </a:p>
          <a:p>
            <a:pPr algn="l" marL="479298" indent="-239649" lvl="1">
              <a:lnSpc>
                <a:spcPts val="3996"/>
              </a:lnSpc>
              <a:buFont typeface="Arial"/>
              <a:buChar char="•"/>
            </a:pPr>
            <a:r>
              <a:rPr lang="en-US" b="true" sz="2220">
                <a:solidFill>
                  <a:srgbClr val="000000"/>
                </a:solidFill>
                <a:latin typeface="Calibri (MS) Bold"/>
                <a:ea typeface="Calibri (MS) Bold"/>
                <a:cs typeface="Calibri (MS) Bold"/>
                <a:sym typeface="Calibri (MS) Bold"/>
              </a:rPr>
              <a:t>Dual UX: visual + chat: </a:t>
            </a:r>
            <a:r>
              <a:rPr lang="en-US" sz="2220">
                <a:solidFill>
                  <a:srgbClr val="000000"/>
                </a:solidFill>
                <a:latin typeface="Calibri (MS)"/>
                <a:ea typeface="Calibri (MS)"/>
                <a:cs typeface="Calibri (MS)"/>
                <a:sym typeface="Calibri (MS)"/>
              </a:rPr>
              <a:t>Refine the generated UI with natural language (“more spacing”, “dark theme”, “mobile‑first”) instead of tweaking CSS by hand.</a:t>
            </a:r>
          </a:p>
          <a:p>
            <a:pPr algn="l" marL="479298" indent="-239649" lvl="1">
              <a:lnSpc>
                <a:spcPts val="3996"/>
              </a:lnSpc>
              <a:buFont typeface="Arial"/>
              <a:buChar char="•"/>
            </a:pPr>
            <a:r>
              <a:rPr lang="en-US" b="true" sz="2220">
                <a:solidFill>
                  <a:srgbClr val="000000"/>
                </a:solidFill>
                <a:latin typeface="Calibri (MS) Bold"/>
                <a:ea typeface="Calibri (MS) Bold"/>
                <a:cs typeface="Calibri (MS) Bold"/>
                <a:sym typeface="Calibri (MS) Bold"/>
              </a:rPr>
              <a:t>Component‑aware generation: </a:t>
            </a:r>
            <a:r>
              <a:rPr lang="en-US" sz="2220">
                <a:solidFill>
                  <a:srgbClr val="000000"/>
                </a:solidFill>
                <a:latin typeface="Calibri (MS)"/>
                <a:ea typeface="Calibri (MS)"/>
                <a:cs typeface="Calibri (MS)"/>
                <a:sym typeface="Calibri (MS)"/>
              </a:rPr>
              <a:t>Produces reusable, clean components (not spaghetti HTML), making dev teams actually want to keep the code.</a:t>
            </a:r>
          </a:p>
          <a:p>
            <a:pPr algn="l" marL="479298" indent="-239649" lvl="1">
              <a:lnSpc>
                <a:spcPts val="3996"/>
              </a:lnSpc>
              <a:buFont typeface="Arial"/>
              <a:buChar char="•"/>
            </a:pPr>
            <a:r>
              <a:rPr lang="en-US" b="true" sz="2220">
                <a:solidFill>
                  <a:srgbClr val="000000"/>
                </a:solidFill>
                <a:latin typeface="Calibri (MS) Bold"/>
                <a:ea typeface="Calibri (MS) Bold"/>
                <a:cs typeface="Calibri (MS) Bold"/>
                <a:sym typeface="Calibri (MS) Bold"/>
              </a:rPr>
              <a:t>Huawei‑ready by design: </a:t>
            </a:r>
            <a:r>
              <a:rPr lang="en-US" sz="2220">
                <a:solidFill>
                  <a:srgbClr val="000000"/>
                </a:solidFill>
                <a:latin typeface="Calibri (MS)"/>
                <a:ea typeface="Calibri (MS)"/>
                <a:cs typeface="Calibri (MS)"/>
                <a:sym typeface="Calibri (MS)"/>
              </a:rPr>
              <a:t>Architecture fits CCE + OBS + ModelArts, optimized for low latency, scale, and cost in regions like North Africa.</a:t>
            </a:r>
          </a:p>
          <a:p>
            <a:pPr algn="l">
              <a:lnSpc>
                <a:spcPts val="3996"/>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660817" y="699960"/>
            <a:ext cx="15921789" cy="587860"/>
          </a:xfrm>
          <a:prstGeom prst="rect">
            <a:avLst/>
          </a:prstGeom>
        </p:spPr>
        <p:txBody>
          <a:bodyPr anchor="t" rtlCol="false" tIns="0" lIns="0" bIns="0" rIns="0">
            <a:spAutoFit/>
          </a:bodyPr>
          <a:lstStyle/>
          <a:p>
            <a:pPr algn="l">
              <a:lnSpc>
                <a:spcPts val="4534"/>
              </a:lnSpc>
            </a:pPr>
            <a:r>
              <a:rPr lang="en-US" b="true" sz="4198" spc="16">
                <a:solidFill>
                  <a:srgbClr val="990000"/>
                </a:solidFill>
                <a:latin typeface="Merriweather Sans Bold"/>
                <a:ea typeface="Merriweather Sans Bold"/>
                <a:cs typeface="Merriweather Sans Bold"/>
                <a:sym typeface="Merriweather Sans Bold"/>
              </a:rPr>
              <a:t>Innovations</a:t>
            </a:r>
          </a:p>
        </p:txBody>
      </p:sp>
      <p:sp>
        <p:nvSpPr>
          <p:cNvPr name="TextBox 4" id="4"/>
          <p:cNvSpPr txBox="true"/>
          <p:nvPr/>
        </p:nvSpPr>
        <p:spPr>
          <a:xfrm rot="0">
            <a:off x="1058356" y="2608868"/>
            <a:ext cx="15911169" cy="5628284"/>
          </a:xfrm>
          <a:prstGeom prst="rect">
            <a:avLst/>
          </a:prstGeom>
        </p:spPr>
        <p:txBody>
          <a:bodyPr anchor="t" rtlCol="false" tIns="0" lIns="0" bIns="0" rIns="0">
            <a:spAutoFit/>
          </a:bodyPr>
          <a:lstStyle/>
          <a:p>
            <a:pPr algn="l" marL="401765" indent="-200882" lvl="1">
              <a:lnSpc>
                <a:spcPts val="3196"/>
              </a:lnSpc>
              <a:buFont typeface="Arial"/>
              <a:buChar char="•"/>
            </a:pPr>
            <a:r>
              <a:rPr lang="en-US" b="true" sz="2220">
                <a:solidFill>
                  <a:srgbClr val="000000"/>
                </a:solidFill>
                <a:latin typeface="Calibri (MS) Bold"/>
                <a:ea typeface="Calibri (MS) Bold"/>
                <a:cs typeface="Calibri (MS) Bold"/>
                <a:sym typeface="Calibri (MS) Bold"/>
              </a:rPr>
              <a:t>Multimodal sketch‑to‑code engine</a:t>
            </a:r>
            <a:r>
              <a:rPr lang="en-US" sz="2220">
                <a:solidFill>
                  <a:srgbClr val="000000"/>
                </a:solidFill>
                <a:latin typeface="Calibri (MS)"/>
                <a:ea typeface="Calibri (MS)"/>
                <a:cs typeface="Calibri (MS)"/>
                <a:sym typeface="Calibri (MS)"/>
              </a:rPr>
              <a:t>: Turns messy hand‑drawn sketches into structured UI trees and full, runnable projects (not just pretty mockups or snippets).</a:t>
            </a:r>
          </a:p>
          <a:p>
            <a:pPr algn="l">
              <a:lnSpc>
                <a:spcPts val="3196"/>
              </a:lnSpc>
            </a:pPr>
          </a:p>
          <a:p>
            <a:pPr algn="l" marL="401765" indent="-200882" lvl="1">
              <a:lnSpc>
                <a:spcPts val="3196"/>
              </a:lnSpc>
              <a:buFont typeface="Arial"/>
              <a:buChar char="•"/>
            </a:pPr>
            <a:r>
              <a:rPr lang="en-US" b="true" sz="2220">
                <a:solidFill>
                  <a:srgbClr val="000000"/>
                </a:solidFill>
                <a:latin typeface="Calibri (MS) Bold"/>
                <a:ea typeface="Calibri (MS) Bold"/>
                <a:cs typeface="Calibri (MS) Bold"/>
                <a:sym typeface="Calibri (MS) Bold"/>
              </a:rPr>
              <a:t>Component‑aware, production‑grade code</a:t>
            </a:r>
            <a:r>
              <a:rPr lang="en-US" sz="2220">
                <a:solidFill>
                  <a:srgbClr val="000000"/>
                </a:solidFill>
                <a:latin typeface="Calibri (MS)"/>
                <a:ea typeface="Calibri (MS)"/>
                <a:cs typeface="Calibri (MS)"/>
                <a:sym typeface="Calibri (MS)"/>
              </a:rPr>
              <a:t>: Generates clean, reusable components and project structure that real teams can maintain and ship.</a:t>
            </a:r>
          </a:p>
          <a:p>
            <a:pPr algn="l">
              <a:lnSpc>
                <a:spcPts val="3196"/>
              </a:lnSpc>
            </a:pPr>
          </a:p>
          <a:p>
            <a:pPr algn="l" marL="401765" indent="-200882" lvl="1">
              <a:lnSpc>
                <a:spcPts val="3196"/>
              </a:lnSpc>
              <a:buFont typeface="Arial"/>
              <a:buChar char="•"/>
            </a:pPr>
            <a:r>
              <a:rPr lang="en-US" b="true" sz="2220">
                <a:solidFill>
                  <a:srgbClr val="000000"/>
                </a:solidFill>
                <a:latin typeface="Calibri (MS) Bold"/>
                <a:ea typeface="Calibri (MS) Bold"/>
                <a:cs typeface="Calibri (MS) Bold"/>
                <a:sym typeface="Calibri (MS) Bold"/>
              </a:rPr>
              <a:t>Hybrid AI routing with Huawei readiness</a:t>
            </a:r>
            <a:r>
              <a:rPr lang="en-US" sz="2220">
                <a:solidFill>
                  <a:srgbClr val="000000"/>
                </a:solidFill>
                <a:latin typeface="Calibri (MS)"/>
                <a:ea typeface="Calibri (MS)"/>
                <a:cs typeface="Calibri (MS)"/>
                <a:sym typeface="Calibri (MS)"/>
              </a:rPr>
              <a:t>: Starts with Claude, but is architected to seamlessly shift inference to Huawei ModelArts/Pangu for sovereign, in‑region AI.</a:t>
            </a:r>
          </a:p>
          <a:p>
            <a:pPr algn="l">
              <a:lnSpc>
                <a:spcPts val="3196"/>
              </a:lnSpc>
            </a:pPr>
          </a:p>
          <a:p>
            <a:pPr algn="l" marL="401765" indent="-200882" lvl="1">
              <a:lnSpc>
                <a:spcPts val="3196"/>
              </a:lnSpc>
              <a:buFont typeface="Arial"/>
              <a:buChar char="•"/>
            </a:pPr>
            <a:r>
              <a:rPr lang="en-US" b="true" sz="2220">
                <a:solidFill>
                  <a:srgbClr val="000000"/>
                </a:solidFill>
                <a:latin typeface="Calibri (MS) Bold"/>
                <a:ea typeface="Calibri (MS) Bold"/>
                <a:cs typeface="Calibri (MS) Bold"/>
                <a:sym typeface="Calibri (MS) Bold"/>
              </a:rPr>
              <a:t>Cloud‑native orchestration on Huawei stack</a:t>
            </a:r>
            <a:r>
              <a:rPr lang="en-US" sz="2220">
                <a:solidFill>
                  <a:srgbClr val="000000"/>
                </a:solidFill>
                <a:latin typeface="Calibri (MS)"/>
                <a:ea typeface="Calibri (MS)"/>
                <a:cs typeface="Calibri (MS)"/>
                <a:sym typeface="Calibri (MS)"/>
              </a:rPr>
              <a:t>: Event‑driven pipeline (FunctionGraph + OBS + CCE + Cloud Eye/LTS) that self‑heals, scales, and exposes per‑job cost/latency.</a:t>
            </a:r>
          </a:p>
          <a:p>
            <a:pPr algn="l">
              <a:lnSpc>
                <a:spcPts val="3196"/>
              </a:lnSpc>
            </a:pPr>
          </a:p>
          <a:p>
            <a:pPr algn="l" marL="401765" indent="-200882" lvl="1">
              <a:lnSpc>
                <a:spcPts val="3196"/>
              </a:lnSpc>
              <a:buFont typeface="Arial"/>
              <a:buChar char="•"/>
            </a:pPr>
            <a:r>
              <a:rPr lang="en-US" b="true" sz="2220">
                <a:solidFill>
                  <a:srgbClr val="000000"/>
                </a:solidFill>
                <a:latin typeface="Calibri (MS) Bold"/>
                <a:ea typeface="Calibri (MS) Bold"/>
                <a:cs typeface="Calibri (MS) Bold"/>
                <a:sym typeface="Calibri (MS) Bold"/>
              </a:rPr>
              <a:t>Business model built for partners</a:t>
            </a:r>
            <a:r>
              <a:rPr lang="en-US" sz="2220">
                <a:solidFill>
                  <a:srgbClr val="000000"/>
                </a:solidFill>
                <a:latin typeface="Calibri (MS)"/>
                <a:ea typeface="Calibri (MS)"/>
                <a:cs typeface="Calibri (MS)"/>
                <a:sym typeface="Calibri (MS)"/>
              </a:rPr>
              <a:t>: Hybrid subscription + usage model, with a future template/component marketplace and Huawei marketplace listing for co‑selling.</a:t>
            </a:r>
          </a:p>
        </p:txBody>
      </p:sp>
      <p:grpSp>
        <p:nvGrpSpPr>
          <p:cNvPr name="Group 5" id="5"/>
          <p:cNvGrpSpPr/>
          <p:nvPr/>
        </p:nvGrpSpPr>
        <p:grpSpPr>
          <a:xfrm rot="0">
            <a:off x="0" y="9653451"/>
            <a:ext cx="18288000" cy="633549"/>
            <a:chOff x="0" y="0"/>
            <a:chExt cx="24384000" cy="844732"/>
          </a:xfrm>
        </p:grpSpPr>
        <p:sp>
          <p:nvSpPr>
            <p:cNvPr name="Freeform 6" id="6"/>
            <p:cNvSpPr/>
            <p:nvPr/>
          </p:nvSpPr>
          <p:spPr>
            <a:xfrm flipH="false" flipV="false" rot="0">
              <a:off x="0" y="0"/>
              <a:ext cx="24384000" cy="844677"/>
            </a:xfrm>
            <a:custGeom>
              <a:avLst/>
              <a:gdLst/>
              <a:ahLst/>
              <a:cxnLst/>
              <a:rect r="r" b="b" t="t" l="l"/>
              <a:pathLst>
                <a:path h="844677" w="24384000">
                  <a:moveTo>
                    <a:pt x="0" y="0"/>
                  </a:moveTo>
                  <a:lnTo>
                    <a:pt x="24384000" y="0"/>
                  </a:lnTo>
                  <a:lnTo>
                    <a:pt x="24384000" y="844677"/>
                  </a:lnTo>
                  <a:lnTo>
                    <a:pt x="0" y="844677"/>
                  </a:lnTo>
                  <a:close/>
                </a:path>
              </a:pathLst>
            </a:custGeom>
            <a:solidFill>
              <a:srgbClr val="D7E4F4"/>
            </a:solidFill>
          </p:spPr>
        </p:sp>
      </p:grpSp>
      <p:grpSp>
        <p:nvGrpSpPr>
          <p:cNvPr name="Group 7" id="7"/>
          <p:cNvGrpSpPr>
            <a:grpSpLocks noChangeAspect="true"/>
          </p:cNvGrpSpPr>
          <p:nvPr/>
        </p:nvGrpSpPr>
        <p:grpSpPr>
          <a:xfrm rot="0">
            <a:off x="15651051" y="7333276"/>
            <a:ext cx="2636949" cy="2636949"/>
            <a:chOff x="0" y="0"/>
            <a:chExt cx="3515932" cy="3515932"/>
          </a:xfrm>
        </p:grpSpPr>
        <p:sp>
          <p:nvSpPr>
            <p:cNvPr name="Freeform 8" id="8"/>
            <p:cNvSpPr/>
            <p:nvPr/>
          </p:nvSpPr>
          <p:spPr>
            <a:xfrm flipH="false" flipV="false" rot="0">
              <a:off x="0" y="0"/>
              <a:ext cx="3515995" cy="3515995"/>
            </a:xfrm>
            <a:custGeom>
              <a:avLst/>
              <a:gdLst/>
              <a:ahLst/>
              <a:cxnLst/>
              <a:rect r="r" b="b" t="t" l="l"/>
              <a:pathLst>
                <a:path h="3515995" w="3515995">
                  <a:moveTo>
                    <a:pt x="0" y="0"/>
                  </a:moveTo>
                  <a:lnTo>
                    <a:pt x="3515995" y="0"/>
                  </a:lnTo>
                  <a:lnTo>
                    <a:pt x="3515995" y="3515995"/>
                  </a:lnTo>
                  <a:lnTo>
                    <a:pt x="0" y="3515995"/>
                  </a:lnTo>
                  <a:lnTo>
                    <a:pt x="0" y="0"/>
                  </a:lnTo>
                  <a:close/>
                </a:path>
              </a:pathLst>
            </a:custGeom>
            <a:blipFill>
              <a:blip r:embed="rId3"/>
              <a:stretch>
                <a:fillRect l="0" t="0" r="1" b="1"/>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660817" y="699960"/>
            <a:ext cx="15921789" cy="587860"/>
          </a:xfrm>
          <a:prstGeom prst="rect">
            <a:avLst/>
          </a:prstGeom>
        </p:spPr>
        <p:txBody>
          <a:bodyPr anchor="t" rtlCol="false" tIns="0" lIns="0" bIns="0" rIns="0">
            <a:spAutoFit/>
          </a:bodyPr>
          <a:lstStyle/>
          <a:p>
            <a:pPr algn="l">
              <a:lnSpc>
                <a:spcPts val="4534"/>
              </a:lnSpc>
            </a:pPr>
            <a:r>
              <a:rPr lang="en-US" b="true" sz="4198" spc="16">
                <a:solidFill>
                  <a:srgbClr val="990000"/>
                </a:solidFill>
                <a:latin typeface="Merriweather Sans Bold"/>
                <a:ea typeface="Merriweather Sans Bold"/>
                <a:cs typeface="Merriweather Sans Bold"/>
                <a:sym typeface="Merriweather Sans Bold"/>
              </a:rPr>
              <a:t>Business Value</a:t>
            </a:r>
          </a:p>
        </p:txBody>
      </p:sp>
      <p:grpSp>
        <p:nvGrpSpPr>
          <p:cNvPr name="Group 4" id="4"/>
          <p:cNvGrpSpPr/>
          <p:nvPr/>
        </p:nvGrpSpPr>
        <p:grpSpPr>
          <a:xfrm rot="0">
            <a:off x="0" y="9653451"/>
            <a:ext cx="18288000" cy="633549"/>
            <a:chOff x="0" y="0"/>
            <a:chExt cx="24384000" cy="844732"/>
          </a:xfrm>
        </p:grpSpPr>
        <p:sp>
          <p:nvSpPr>
            <p:cNvPr name="Freeform 5" id="5"/>
            <p:cNvSpPr/>
            <p:nvPr/>
          </p:nvSpPr>
          <p:spPr>
            <a:xfrm flipH="false" flipV="false" rot="0">
              <a:off x="0" y="0"/>
              <a:ext cx="24384000" cy="844677"/>
            </a:xfrm>
            <a:custGeom>
              <a:avLst/>
              <a:gdLst/>
              <a:ahLst/>
              <a:cxnLst/>
              <a:rect r="r" b="b" t="t" l="l"/>
              <a:pathLst>
                <a:path h="844677" w="24384000">
                  <a:moveTo>
                    <a:pt x="0" y="0"/>
                  </a:moveTo>
                  <a:lnTo>
                    <a:pt x="24384000" y="0"/>
                  </a:lnTo>
                  <a:lnTo>
                    <a:pt x="24384000" y="844677"/>
                  </a:lnTo>
                  <a:lnTo>
                    <a:pt x="0" y="844677"/>
                  </a:lnTo>
                  <a:close/>
                </a:path>
              </a:pathLst>
            </a:custGeom>
            <a:solidFill>
              <a:srgbClr val="D7E4F4"/>
            </a:solidFill>
          </p:spPr>
        </p:sp>
      </p:grpSp>
      <p:grpSp>
        <p:nvGrpSpPr>
          <p:cNvPr name="Group 6" id="6"/>
          <p:cNvGrpSpPr>
            <a:grpSpLocks noChangeAspect="true"/>
          </p:cNvGrpSpPr>
          <p:nvPr/>
        </p:nvGrpSpPr>
        <p:grpSpPr>
          <a:xfrm rot="0">
            <a:off x="15651051" y="7333276"/>
            <a:ext cx="2636949" cy="2636949"/>
            <a:chOff x="0" y="0"/>
            <a:chExt cx="3515932" cy="3515932"/>
          </a:xfrm>
        </p:grpSpPr>
        <p:sp>
          <p:nvSpPr>
            <p:cNvPr name="Freeform 7" id="7"/>
            <p:cNvSpPr/>
            <p:nvPr/>
          </p:nvSpPr>
          <p:spPr>
            <a:xfrm flipH="false" flipV="false" rot="0">
              <a:off x="0" y="0"/>
              <a:ext cx="3515995" cy="3515995"/>
            </a:xfrm>
            <a:custGeom>
              <a:avLst/>
              <a:gdLst/>
              <a:ahLst/>
              <a:cxnLst/>
              <a:rect r="r" b="b" t="t" l="l"/>
              <a:pathLst>
                <a:path h="3515995" w="3515995">
                  <a:moveTo>
                    <a:pt x="0" y="0"/>
                  </a:moveTo>
                  <a:lnTo>
                    <a:pt x="3515995" y="0"/>
                  </a:lnTo>
                  <a:lnTo>
                    <a:pt x="3515995" y="3515995"/>
                  </a:lnTo>
                  <a:lnTo>
                    <a:pt x="0" y="3515995"/>
                  </a:lnTo>
                  <a:lnTo>
                    <a:pt x="0" y="0"/>
                  </a:lnTo>
                  <a:close/>
                </a:path>
              </a:pathLst>
            </a:custGeom>
            <a:blipFill>
              <a:blip r:embed="rId3"/>
              <a:stretch>
                <a:fillRect l="0" t="0" r="1" b="1"/>
              </a:stretch>
            </a:blipFill>
          </p:spPr>
        </p:sp>
      </p:grpSp>
      <p:sp>
        <p:nvSpPr>
          <p:cNvPr name="TextBox 8" id="8"/>
          <p:cNvSpPr txBox="true"/>
          <p:nvPr/>
        </p:nvSpPr>
        <p:spPr>
          <a:xfrm rot="0">
            <a:off x="1188415" y="2000869"/>
            <a:ext cx="15911169" cy="6806184"/>
          </a:xfrm>
          <a:prstGeom prst="rect">
            <a:avLst/>
          </a:prstGeom>
        </p:spPr>
        <p:txBody>
          <a:bodyPr anchor="t" rtlCol="false" tIns="0" lIns="0" bIns="0" rIns="0">
            <a:spAutoFit/>
          </a:bodyPr>
          <a:lstStyle/>
          <a:p>
            <a:pPr algn="l" marL="434340" indent="-217170" lvl="1">
              <a:lnSpc>
                <a:spcPts val="3888"/>
              </a:lnSpc>
              <a:buFont typeface="Arial"/>
              <a:buChar char="•"/>
            </a:pPr>
            <a:r>
              <a:rPr lang="en-US" b="true" sz="2400">
                <a:solidFill>
                  <a:srgbClr val="000000"/>
                </a:solidFill>
                <a:latin typeface="Calibri (MS) Bold"/>
                <a:ea typeface="Calibri (MS) Bold"/>
                <a:cs typeface="Calibri (MS) Bold"/>
                <a:sym typeface="Calibri (MS) Bold"/>
              </a:rPr>
              <a:t>High-impact productivity &amp; inclusion</a:t>
            </a:r>
            <a:r>
              <a:rPr lang="en-US" sz="2400">
                <a:solidFill>
                  <a:srgbClr val="000000"/>
                </a:solidFill>
                <a:latin typeface="Calibri (MS)"/>
                <a:ea typeface="Calibri (MS)"/>
                <a:cs typeface="Calibri (MS)"/>
                <a:sym typeface="Calibri (MS)"/>
              </a:rPr>
              <a:t>: Dramatically cuts time and cost from idea/sketch to working UI, helping SM</a:t>
            </a:r>
            <a:r>
              <a:rPr lang="en-US" sz="2400">
                <a:solidFill>
                  <a:srgbClr val="000000"/>
                </a:solidFill>
                <a:latin typeface="Calibri (MS)"/>
                <a:ea typeface="Calibri (MS)"/>
                <a:cs typeface="Calibri (MS)"/>
                <a:sym typeface="Calibri (MS)"/>
              </a:rPr>
              <a:t>Es, public sector, and non‑technical founders ship digital services faster—especially valuable in emerging markets like North Africa.</a:t>
            </a:r>
          </a:p>
          <a:p>
            <a:pPr algn="l" marL="434340" indent="-217170" lvl="1">
              <a:lnSpc>
                <a:spcPts val="3888"/>
              </a:lnSpc>
              <a:buFont typeface="Arial"/>
              <a:buChar char="•"/>
            </a:pPr>
            <a:r>
              <a:rPr lang="en-US" b="true" sz="2400">
                <a:solidFill>
                  <a:srgbClr val="000000"/>
                </a:solidFill>
                <a:latin typeface="Calibri (MS) Bold"/>
                <a:ea typeface="Calibri (MS) Bold"/>
                <a:cs typeface="Calibri (MS) Bold"/>
                <a:sym typeface="Calibri (MS) Bold"/>
              </a:rPr>
              <a:t>Scalable SaaS + usage model</a:t>
            </a:r>
            <a:r>
              <a:rPr lang="en-US" sz="2400">
                <a:solidFill>
                  <a:srgbClr val="000000"/>
                </a:solidFill>
                <a:latin typeface="Calibri (MS)"/>
                <a:ea typeface="Calibri (MS)"/>
                <a:cs typeface="Calibri (MS)"/>
                <a:sym typeface="Calibri (MS)"/>
              </a:rPr>
              <a:t>: Core revenue from team/enterprise subscriptions plus pay‑per‑generation credits, with clear gross margin levers (model choice, OBS lifecycle, autoscaling) and strong upsell potential (enterprise, private deployments, custom templates).</a:t>
            </a:r>
          </a:p>
          <a:p>
            <a:pPr algn="l" marL="434340" indent="-217170" lvl="1">
              <a:lnSpc>
                <a:spcPts val="3888"/>
              </a:lnSpc>
              <a:buFont typeface="Arial"/>
              <a:buChar char="•"/>
            </a:pPr>
            <a:r>
              <a:rPr lang="en-US" b="true" sz="2400">
                <a:solidFill>
                  <a:srgbClr val="000000"/>
                </a:solidFill>
                <a:latin typeface="Calibri (MS) Bold"/>
                <a:ea typeface="Calibri (MS) Bold"/>
                <a:cs typeface="Calibri (MS) Bold"/>
                <a:sym typeface="Calibri (MS) Bold"/>
              </a:rPr>
              <a:t>End‑to‑end value chain coverage</a:t>
            </a:r>
            <a:r>
              <a:rPr lang="en-US" sz="2400">
                <a:solidFill>
                  <a:srgbClr val="000000"/>
                </a:solidFill>
                <a:latin typeface="Calibri (MS)"/>
                <a:ea typeface="Calibri (MS)"/>
                <a:cs typeface="Calibri (MS)"/>
                <a:sym typeface="Calibri (MS)"/>
              </a:rPr>
              <a:t>: Captures value from opportunity identification (rapid prototyping with stakeholders) through product design (iterative UI), technology (Huawei Cloud stack), and delivery (ready‑to‑run code), positioning the product as a central platform rather than a single feature.</a:t>
            </a:r>
          </a:p>
          <a:p>
            <a:pPr algn="l" marL="434340" indent="-217170" lvl="1">
              <a:lnSpc>
                <a:spcPts val="3888"/>
              </a:lnSpc>
              <a:buFont typeface="Arial"/>
              <a:buChar char="•"/>
            </a:pPr>
            <a:r>
              <a:rPr lang="en-US" b="true" sz="2400">
                <a:solidFill>
                  <a:srgbClr val="000000"/>
                </a:solidFill>
                <a:latin typeface="Calibri (MS) Bold"/>
                <a:ea typeface="Calibri (MS) Bold"/>
                <a:cs typeface="Calibri (MS) Bold"/>
                <a:sym typeface="Calibri (MS) Bold"/>
              </a:rPr>
              <a:t>Smart go‑to‑market &amp; ecosystem play</a:t>
            </a:r>
            <a:r>
              <a:rPr lang="en-US" sz="2400">
                <a:solidFill>
                  <a:srgbClr val="000000"/>
                </a:solidFill>
                <a:latin typeface="Calibri (MS)"/>
                <a:ea typeface="Calibri (MS)"/>
                <a:cs typeface="Calibri (MS)"/>
                <a:sym typeface="Calibri (MS)"/>
              </a:rPr>
              <a:t>: Distributed via Huawei Cloud marketplace and partner network (SIs, agencies, educators), combining direct SaaS sales with co‑selling and white‑label options, while differentiating against competitors through Huawei‑native integration and regional focus.</a:t>
            </a:r>
          </a:p>
          <a:p>
            <a:pPr algn="l" marL="434340" indent="-217170" lvl="1">
              <a:lnSpc>
                <a:spcPts val="3888"/>
              </a:lnSpc>
              <a:buFont typeface="Arial"/>
              <a:buChar char="•"/>
            </a:pPr>
            <a:r>
              <a:rPr lang="en-US" b="true" sz="2400">
                <a:solidFill>
                  <a:srgbClr val="000000"/>
                </a:solidFill>
                <a:latin typeface="Calibri (MS) Bold"/>
                <a:ea typeface="Calibri (MS) Bold"/>
                <a:cs typeface="Calibri (MS) Bold"/>
                <a:sym typeface="Calibri (MS) Bold"/>
              </a:rPr>
              <a:t>Compliance‑by‑design</a:t>
            </a:r>
            <a:r>
              <a:rPr lang="en-US" sz="2400">
                <a:solidFill>
                  <a:srgbClr val="000000"/>
                </a:solidFill>
                <a:latin typeface="Calibri (MS)"/>
                <a:ea typeface="Calibri (MS)"/>
                <a:cs typeface="Calibri (MS)"/>
                <a:sym typeface="Calibri (MS)"/>
              </a:rPr>
              <a:t>: Data residency controls, encrypted OBS storage, IAM least‑privilege, and clear policies for cross‑border AI calls (Claude → ModelArts) ensure alignment with local laws and regulations, enabling adoption in regulated sectors (government, finance, telecom).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660817" y="549906"/>
            <a:ext cx="15921789" cy="587860"/>
          </a:xfrm>
          <a:prstGeom prst="rect">
            <a:avLst/>
          </a:prstGeom>
        </p:spPr>
        <p:txBody>
          <a:bodyPr anchor="t" rtlCol="false" tIns="0" lIns="0" bIns="0" rIns="0">
            <a:spAutoFit/>
          </a:bodyPr>
          <a:lstStyle/>
          <a:p>
            <a:pPr algn="l">
              <a:lnSpc>
                <a:spcPts val="4534"/>
              </a:lnSpc>
            </a:pPr>
            <a:r>
              <a:rPr lang="en-US" b="true" sz="4198" spc="16">
                <a:solidFill>
                  <a:srgbClr val="990000"/>
                </a:solidFill>
                <a:latin typeface="Merriweather Sans Bold"/>
                <a:ea typeface="Merriweather Sans Bold"/>
                <a:cs typeface="Merriweather Sans Bold"/>
                <a:sym typeface="Merriweather Sans Bold"/>
              </a:rPr>
              <a:t>Demo &amp; Follow-up Plan</a:t>
            </a:r>
          </a:p>
        </p:txBody>
      </p:sp>
      <p:grpSp>
        <p:nvGrpSpPr>
          <p:cNvPr name="Group 4" id="4"/>
          <p:cNvGrpSpPr/>
          <p:nvPr/>
        </p:nvGrpSpPr>
        <p:grpSpPr>
          <a:xfrm rot="0">
            <a:off x="0" y="9653451"/>
            <a:ext cx="18288000" cy="633549"/>
            <a:chOff x="0" y="0"/>
            <a:chExt cx="24384000" cy="844732"/>
          </a:xfrm>
        </p:grpSpPr>
        <p:sp>
          <p:nvSpPr>
            <p:cNvPr name="Freeform 5" id="5"/>
            <p:cNvSpPr/>
            <p:nvPr/>
          </p:nvSpPr>
          <p:spPr>
            <a:xfrm flipH="false" flipV="false" rot="0">
              <a:off x="0" y="0"/>
              <a:ext cx="24384000" cy="844677"/>
            </a:xfrm>
            <a:custGeom>
              <a:avLst/>
              <a:gdLst/>
              <a:ahLst/>
              <a:cxnLst/>
              <a:rect r="r" b="b" t="t" l="l"/>
              <a:pathLst>
                <a:path h="844677" w="24384000">
                  <a:moveTo>
                    <a:pt x="0" y="0"/>
                  </a:moveTo>
                  <a:lnTo>
                    <a:pt x="24384000" y="0"/>
                  </a:lnTo>
                  <a:lnTo>
                    <a:pt x="24384000" y="844677"/>
                  </a:lnTo>
                  <a:lnTo>
                    <a:pt x="0" y="844677"/>
                  </a:lnTo>
                  <a:close/>
                </a:path>
              </a:pathLst>
            </a:custGeom>
            <a:solidFill>
              <a:srgbClr val="D7E4F4"/>
            </a:solidFill>
          </p:spPr>
        </p:sp>
      </p:grpSp>
      <p:grpSp>
        <p:nvGrpSpPr>
          <p:cNvPr name="Group 6" id="6"/>
          <p:cNvGrpSpPr>
            <a:grpSpLocks noChangeAspect="true"/>
          </p:cNvGrpSpPr>
          <p:nvPr/>
        </p:nvGrpSpPr>
        <p:grpSpPr>
          <a:xfrm rot="0">
            <a:off x="15651051" y="7333276"/>
            <a:ext cx="2636949" cy="2636949"/>
            <a:chOff x="0" y="0"/>
            <a:chExt cx="3515932" cy="3515932"/>
          </a:xfrm>
        </p:grpSpPr>
        <p:sp>
          <p:nvSpPr>
            <p:cNvPr name="Freeform 7" id="7"/>
            <p:cNvSpPr/>
            <p:nvPr/>
          </p:nvSpPr>
          <p:spPr>
            <a:xfrm flipH="false" flipV="false" rot="0">
              <a:off x="0" y="0"/>
              <a:ext cx="3515995" cy="3515995"/>
            </a:xfrm>
            <a:custGeom>
              <a:avLst/>
              <a:gdLst/>
              <a:ahLst/>
              <a:cxnLst/>
              <a:rect r="r" b="b" t="t" l="l"/>
              <a:pathLst>
                <a:path h="3515995" w="3515995">
                  <a:moveTo>
                    <a:pt x="0" y="0"/>
                  </a:moveTo>
                  <a:lnTo>
                    <a:pt x="3515995" y="0"/>
                  </a:lnTo>
                  <a:lnTo>
                    <a:pt x="3515995" y="3515995"/>
                  </a:lnTo>
                  <a:lnTo>
                    <a:pt x="0" y="3515995"/>
                  </a:lnTo>
                  <a:lnTo>
                    <a:pt x="0" y="0"/>
                  </a:lnTo>
                  <a:close/>
                </a:path>
              </a:pathLst>
            </a:custGeom>
            <a:blipFill>
              <a:blip r:embed="rId3"/>
              <a:stretch>
                <a:fillRect l="0" t="0" r="1" b="1"/>
              </a:stretch>
            </a:blipFill>
          </p:spPr>
        </p:sp>
      </p:grpSp>
      <p:pic>
        <p:nvPicPr>
          <p:cNvPr name="Picture 8" id="8"/>
          <p:cNvPicPr>
            <a:picLocks noChangeAspect="true"/>
          </p:cNvPicPr>
          <p:nvPr/>
        </p:nvPicPr>
        <p:blipFill>
          <a:blip r:embed="rId4"/>
          <a:stretch>
            <a:fillRect/>
          </a:stretch>
        </p:blipFill>
        <p:spPr>
          <a:xfrm rot="0">
            <a:off x="5329632" y="1658743"/>
            <a:ext cx="7628736" cy="7628736"/>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5651051" y="7333276"/>
            <a:ext cx="2636949" cy="2636949"/>
            <a:chOff x="0" y="0"/>
            <a:chExt cx="3515932" cy="3515932"/>
          </a:xfrm>
        </p:grpSpPr>
        <p:sp>
          <p:nvSpPr>
            <p:cNvPr name="Freeform 4" id="4"/>
            <p:cNvSpPr/>
            <p:nvPr/>
          </p:nvSpPr>
          <p:spPr>
            <a:xfrm flipH="false" flipV="false" rot="0">
              <a:off x="0" y="0"/>
              <a:ext cx="3515995" cy="3515995"/>
            </a:xfrm>
            <a:custGeom>
              <a:avLst/>
              <a:gdLst/>
              <a:ahLst/>
              <a:cxnLst/>
              <a:rect r="r" b="b" t="t" l="l"/>
              <a:pathLst>
                <a:path h="3515995" w="3515995">
                  <a:moveTo>
                    <a:pt x="0" y="0"/>
                  </a:moveTo>
                  <a:lnTo>
                    <a:pt x="3515995" y="0"/>
                  </a:lnTo>
                  <a:lnTo>
                    <a:pt x="3515995" y="3515995"/>
                  </a:lnTo>
                  <a:lnTo>
                    <a:pt x="0" y="3515995"/>
                  </a:lnTo>
                  <a:lnTo>
                    <a:pt x="0" y="0"/>
                  </a:lnTo>
                  <a:close/>
                </a:path>
              </a:pathLst>
            </a:custGeom>
            <a:blipFill>
              <a:blip r:embed="rId3"/>
              <a:stretch>
                <a:fillRect l="0" t="0" r="1" b="1"/>
              </a:stretch>
            </a:blipFill>
          </p:spPr>
        </p:sp>
      </p:grpSp>
      <p:sp>
        <p:nvSpPr>
          <p:cNvPr name="TextBox 5" id="5"/>
          <p:cNvSpPr txBox="true"/>
          <p:nvPr/>
        </p:nvSpPr>
        <p:spPr>
          <a:xfrm rot="0">
            <a:off x="2433549" y="2950677"/>
            <a:ext cx="15921789" cy="463035"/>
          </a:xfrm>
          <a:prstGeom prst="rect">
            <a:avLst/>
          </a:prstGeom>
        </p:spPr>
        <p:txBody>
          <a:bodyPr anchor="t" rtlCol="false" tIns="0" lIns="0" bIns="0" rIns="0">
            <a:spAutoFit/>
          </a:bodyPr>
          <a:lstStyle/>
          <a:p>
            <a:pPr algn="l">
              <a:lnSpc>
                <a:spcPts val="7128"/>
              </a:lnSpc>
            </a:pPr>
            <a:r>
              <a:rPr lang="en-US" sz="6600" b="true">
                <a:solidFill>
                  <a:srgbClr val="990000"/>
                </a:solidFill>
                <a:latin typeface="Arial Bold"/>
                <a:ea typeface="Arial Bold"/>
                <a:cs typeface="Arial Bold"/>
                <a:sym typeface="Arial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DAG4yoDTh-I</dc:identifier>
  <dcterms:modified xsi:type="dcterms:W3CDTF">2011-08-01T06:04:30Z</dcterms:modified>
  <cp:revision>1</cp:revision>
  <dc:title>Presentation.pptx</dc:title>
</cp:coreProperties>
</file>